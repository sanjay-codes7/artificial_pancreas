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3" r:id="rId2"/>
    <p:sldId id="257" r:id="rId3"/>
    <p:sldId id="258" r:id="rId4"/>
    <p:sldId id="259" r:id="rId5"/>
    <p:sldId id="262"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13" autoAdjust="0"/>
    <p:restoredTop sz="94660"/>
  </p:normalViewPr>
  <p:slideViewPr>
    <p:cSldViewPr snapToGrid="0">
      <p:cViewPr varScale="1">
        <p:scale>
          <a:sx n="77" d="100"/>
          <a:sy n="77" d="100"/>
        </p:scale>
        <p:origin x="47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66C462-1935-46BC-B1D9-CEEB4E0F0885}"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890E43-B470-40BF-82F8-6E3429F63EAD}" type="slidenum">
              <a:rPr lang="en-US" smtClean="0"/>
              <a:t>‹#›</a:t>
            </a:fld>
            <a:endParaRPr lang="en-US"/>
          </a:p>
        </p:txBody>
      </p:sp>
    </p:spTree>
    <p:extLst>
      <p:ext uri="{BB962C8B-B14F-4D97-AF65-F5344CB8AC3E}">
        <p14:creationId xmlns:p14="http://schemas.microsoft.com/office/powerpoint/2010/main" val="3207622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77FAFB5B-57CB-AEFA-003F-0BB5A3A1B93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820" b="7820"/>
          <a:stretch>
            <a:fillRect/>
          </a:stretch>
        </p:blipFill>
        <p:spPr>
          <a:xfrm>
            <a:off x="0" y="0"/>
            <a:ext cx="12191954" cy="6858000"/>
          </a:xfrm>
          <a:prstGeom prst="rect">
            <a:avLst/>
          </a:prstGeom>
        </p:spPr>
      </p:pic>
      <p:sp>
        <p:nvSpPr>
          <p:cNvPr id="24" name="Rectangle 23">
            <a:extLst>
              <a:ext uri="{FF2B5EF4-FFF2-40B4-BE49-F238E27FC236}">
                <a16:creationId xmlns:a16="http://schemas.microsoft.com/office/drawing/2014/main" id="{3A0DF343-60A4-590C-7BC8-91798ABC3FC1}"/>
              </a:ext>
            </a:extLst>
          </p:cNvPr>
          <p:cNvSpPr/>
          <p:nvPr userDrawn="1"/>
        </p:nvSpPr>
        <p:spPr>
          <a:xfrm flipH="1">
            <a:off x="0" y="0"/>
            <a:ext cx="12192000" cy="6858000"/>
          </a:xfrm>
          <a:prstGeom prst="rect">
            <a:avLst/>
          </a:prstGeom>
          <a:solidFill>
            <a:schemeClr val="tx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69A75276-2B1D-4B7F-F613-DEBAC52D46D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91513" y="323819"/>
            <a:ext cx="2729012" cy="843082"/>
          </a:xfrm>
          <a:prstGeom prst="rect">
            <a:avLst/>
          </a:prstGeom>
        </p:spPr>
      </p:pic>
      <p:sp>
        <p:nvSpPr>
          <p:cNvPr id="34" name="Slide Number Placeholder 5">
            <a:extLst>
              <a:ext uri="{FF2B5EF4-FFF2-40B4-BE49-F238E27FC236}">
                <a16:creationId xmlns:a16="http://schemas.microsoft.com/office/drawing/2014/main" id="{DDF4206D-0572-E2FA-BBE5-45F3A0925D07}"/>
              </a:ext>
            </a:extLst>
          </p:cNvPr>
          <p:cNvSpPr>
            <a:spLocks noGrp="1"/>
          </p:cNvSpPr>
          <p:nvPr>
            <p:ph type="sldNum" sz="quarter" idx="4"/>
          </p:nvPr>
        </p:nvSpPr>
        <p:spPr>
          <a:xfrm>
            <a:off x="8610600" y="6356350"/>
            <a:ext cx="3209924" cy="365125"/>
          </a:xfrm>
          <a:prstGeom prst="rect">
            <a:avLst/>
          </a:prstGeom>
        </p:spPr>
        <p:txBody>
          <a:bodyPr vert="horz" lIns="91440" tIns="45720" rIns="91440" bIns="45720" rtlCol="0" anchor="ctr"/>
          <a:lstStyle>
            <a:lvl1pPr algn="r">
              <a:defRPr sz="1200">
                <a:solidFill>
                  <a:schemeClr val="bg1"/>
                </a:solidFill>
              </a:defRPr>
            </a:lvl1pPr>
          </a:lstStyle>
          <a:p>
            <a:fld id="{A6FCFE0C-FD5A-4524-A8B1-CEC4446D43C3}" type="slidenum">
              <a:rPr lang="en-US" smtClean="0"/>
              <a:pPr/>
              <a:t>‹#›</a:t>
            </a:fld>
            <a:endParaRPr lang="en-US" dirty="0"/>
          </a:p>
        </p:txBody>
      </p:sp>
      <p:pic>
        <p:nvPicPr>
          <p:cNvPr id="38" name="Graphic 37">
            <a:extLst>
              <a:ext uri="{FF2B5EF4-FFF2-40B4-BE49-F238E27FC236}">
                <a16:creationId xmlns:a16="http://schemas.microsoft.com/office/drawing/2014/main" id="{29AF0423-0B38-9B7C-662A-52BEE3FBDD14}"/>
              </a:ext>
            </a:extLst>
          </p:cNvPr>
          <p:cNvPicPr>
            <a:picLocks noChangeAspect="1"/>
          </p:cNvPicPr>
          <p:nvPr userDrawn="1"/>
        </p:nvPicPr>
        <p:blipFill>
          <a:blip>
            <a:extLst>
              <a:ext uri="{96DAC541-7B7A-43D3-8B79-37D633B846F1}">
                <asvg:svgBlip xmlns:asvg="http://schemas.microsoft.com/office/drawing/2016/SVG/main" r:embed="rId4"/>
              </a:ext>
            </a:extLst>
          </a:blip>
          <a:srcRect l="10166" t="15259" r="11845" b="67408"/>
          <a:stretch>
            <a:fillRect/>
          </a:stretch>
        </p:blipFill>
        <p:spPr>
          <a:xfrm>
            <a:off x="371475" y="317536"/>
            <a:ext cx="2720526" cy="855649"/>
          </a:xfrm>
          <a:prstGeom prst="rect">
            <a:avLst/>
          </a:prstGeom>
        </p:spPr>
      </p:pic>
      <p:sp>
        <p:nvSpPr>
          <p:cNvPr id="43" name="TextBox 42">
            <a:extLst>
              <a:ext uri="{FF2B5EF4-FFF2-40B4-BE49-F238E27FC236}">
                <a16:creationId xmlns:a16="http://schemas.microsoft.com/office/drawing/2014/main" id="{42FD9994-5292-231D-4165-26892309EB7E}"/>
              </a:ext>
            </a:extLst>
          </p:cNvPr>
          <p:cNvSpPr txBox="1"/>
          <p:nvPr userDrawn="1"/>
        </p:nvSpPr>
        <p:spPr>
          <a:xfrm>
            <a:off x="634365" y="1188206"/>
            <a:ext cx="2245360" cy="1151134"/>
          </a:xfrm>
          <a:prstGeom prst="rect">
            <a:avLst/>
          </a:prstGeom>
          <a:noFill/>
        </p:spPr>
        <p:txBody>
          <a:bodyPr wrap="square" rtlCol="0">
            <a:prstTxWarp prst="textArchUp">
              <a:avLst>
                <a:gd name="adj" fmla="val 6168626"/>
              </a:avLst>
            </a:prstTxWarp>
            <a:spAutoFit/>
          </a:bodyPr>
          <a:lstStyle/>
          <a:p>
            <a:pPr algn="ctr"/>
            <a:r>
              <a:rPr lang="en-IN" sz="3600" b="1" dirty="0">
                <a:ln w="38100">
                  <a:noFill/>
                </a:ln>
                <a:solidFill>
                  <a:schemeClr val="bg1"/>
                </a:solidFill>
                <a:effectLst>
                  <a:glow rad="101600">
                    <a:schemeClr val="accent5">
                      <a:satMod val="175000"/>
                      <a:alpha val="40000"/>
                    </a:schemeClr>
                  </a:glow>
                </a:effectLst>
              </a:rPr>
              <a:t>2026</a:t>
            </a:r>
            <a:endParaRPr lang="en-US" sz="3600" b="1" dirty="0">
              <a:ln w="38100">
                <a:noFill/>
              </a:ln>
              <a:solidFill>
                <a:schemeClr val="bg1"/>
              </a:solidFill>
              <a:effectLst>
                <a:glow rad="101600">
                  <a:schemeClr val="accent5">
                    <a:satMod val="175000"/>
                    <a:alpha val="40000"/>
                  </a:schemeClr>
                </a:glow>
              </a:effectLst>
            </a:endParaRPr>
          </a:p>
        </p:txBody>
      </p:sp>
      <p:sp>
        <p:nvSpPr>
          <p:cNvPr id="20" name="Google Shape;202;p45">
            <a:extLst>
              <a:ext uri="{FF2B5EF4-FFF2-40B4-BE49-F238E27FC236}">
                <a16:creationId xmlns:a16="http://schemas.microsoft.com/office/drawing/2014/main" id="{DD4D71D2-3825-2E15-CA0A-237033911DAB}"/>
              </a:ext>
            </a:extLst>
          </p:cNvPr>
          <p:cNvSpPr txBox="1">
            <a:spLocks noGrp="1"/>
          </p:cNvSpPr>
          <p:nvPr>
            <p:ph type="title"/>
          </p:nvPr>
        </p:nvSpPr>
        <p:spPr>
          <a:xfrm>
            <a:off x="619762" y="1630349"/>
            <a:ext cx="11084560" cy="936496"/>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SzPts val="2800"/>
              <a:buNone/>
              <a:defRPr sz="3200" baseline="0">
                <a:solidFill>
                  <a:schemeClr val="accent4"/>
                </a:solidFill>
                <a:latin typeface="Arial Black" panose="020B0A04020102020204" pitchFamily="34"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41" name="Text Placeholder 40">
            <a:extLst>
              <a:ext uri="{FF2B5EF4-FFF2-40B4-BE49-F238E27FC236}">
                <a16:creationId xmlns:a16="http://schemas.microsoft.com/office/drawing/2014/main" id="{5F6923A3-B18A-9065-C726-BBC5A9C67597}"/>
              </a:ext>
            </a:extLst>
          </p:cNvPr>
          <p:cNvSpPr>
            <a:spLocks noGrp="1"/>
          </p:cNvSpPr>
          <p:nvPr>
            <p:ph type="body" sz="quarter" idx="10"/>
          </p:nvPr>
        </p:nvSpPr>
        <p:spPr>
          <a:xfrm>
            <a:off x="619761" y="2797250"/>
            <a:ext cx="11084560" cy="3422575"/>
          </a:xfrm>
        </p:spPr>
        <p:txBody>
          <a:bodyPr/>
          <a:lstStyle>
            <a:lvl1pPr>
              <a:defRPr sz="2400">
                <a:solidFill>
                  <a:schemeClr val="bg1"/>
                </a:solidFill>
              </a:defRPr>
            </a:lvl1pPr>
            <a:lvl2pPr>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6488048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FAFB5B-57CB-AEFA-003F-0BB5A3A1B93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820" b="7820"/>
          <a:stretch>
            <a:fillRect/>
          </a:stretch>
        </p:blipFill>
        <p:spPr>
          <a:xfrm>
            <a:off x="0" y="0"/>
            <a:ext cx="12191954" cy="6858000"/>
          </a:xfrm>
          <a:prstGeom prst="rect">
            <a:avLst/>
          </a:prstGeom>
        </p:spPr>
      </p:pic>
      <p:sp>
        <p:nvSpPr>
          <p:cNvPr id="3" name="Rectangle 2">
            <a:extLst>
              <a:ext uri="{FF2B5EF4-FFF2-40B4-BE49-F238E27FC236}">
                <a16:creationId xmlns:a16="http://schemas.microsoft.com/office/drawing/2014/main" id="{3A0DF343-60A4-590C-7BC8-91798ABC3FC1}"/>
              </a:ext>
            </a:extLst>
          </p:cNvPr>
          <p:cNvSpPr/>
          <p:nvPr userDrawn="1"/>
        </p:nvSpPr>
        <p:spPr>
          <a:xfrm flipH="1">
            <a:off x="0" y="0"/>
            <a:ext cx="12192000" cy="6858000"/>
          </a:xfrm>
          <a:prstGeom prst="rect">
            <a:avLst/>
          </a:prstGeom>
          <a:solidFill>
            <a:schemeClr val="tx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69A75276-2B1D-4B7F-F613-DEBAC52D46D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6472" y="323819"/>
            <a:ext cx="2729012" cy="843082"/>
          </a:xfrm>
          <a:prstGeom prst="rect">
            <a:avLst/>
          </a:prstGeom>
        </p:spPr>
      </p:pic>
      <p:sp>
        <p:nvSpPr>
          <p:cNvPr id="5" name="Slide Number Placeholder 5">
            <a:extLst>
              <a:ext uri="{FF2B5EF4-FFF2-40B4-BE49-F238E27FC236}">
                <a16:creationId xmlns:a16="http://schemas.microsoft.com/office/drawing/2014/main" id="{DDF4206D-0572-E2FA-BBE5-45F3A0925D07}"/>
              </a:ext>
            </a:extLst>
          </p:cNvPr>
          <p:cNvSpPr>
            <a:spLocks noGrp="1"/>
          </p:cNvSpPr>
          <p:nvPr userDrawn="1"/>
        </p:nvSpPr>
        <p:spPr>
          <a:xfrm>
            <a:off x="8610600" y="6356350"/>
            <a:ext cx="3209924"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FCFE0C-FD5A-4524-A8B1-CEC4446D43C3}" type="slidenum">
              <a:rPr lang="en-US" smtClean="0"/>
              <a:pPr/>
              <a:t>‹#›</a:t>
            </a:fld>
            <a:endParaRPr lang="en-US" dirty="0"/>
          </a:p>
        </p:txBody>
      </p:sp>
      <p:pic>
        <p:nvPicPr>
          <p:cNvPr id="6" name="Graphic 37">
            <a:extLst>
              <a:ext uri="{FF2B5EF4-FFF2-40B4-BE49-F238E27FC236}">
                <a16:creationId xmlns:a16="http://schemas.microsoft.com/office/drawing/2014/main" id="{29AF0423-0B38-9B7C-662A-52BEE3FBDD14}"/>
              </a:ext>
            </a:extLst>
          </p:cNvPr>
          <p:cNvPicPr>
            <a:picLocks noChangeAspect="1"/>
          </p:cNvPicPr>
          <p:nvPr userDrawn="1"/>
        </p:nvPicPr>
        <p:blipFill>
          <a:blip>
            <a:extLst>
              <a:ext uri="{96DAC541-7B7A-43D3-8B79-37D633B846F1}">
                <asvg:svgBlip xmlns:asvg="http://schemas.microsoft.com/office/drawing/2016/SVG/main" r:embed="rId4"/>
              </a:ext>
            </a:extLst>
          </a:blip>
          <a:srcRect l="10166" t="15259" r="11845" b="67408"/>
          <a:stretch>
            <a:fillRect/>
          </a:stretch>
        </p:blipFill>
        <p:spPr>
          <a:xfrm>
            <a:off x="6616167" y="1989603"/>
            <a:ext cx="5135805" cy="1615293"/>
          </a:xfrm>
          <a:prstGeom prst="rect">
            <a:avLst/>
          </a:prstGeom>
        </p:spPr>
      </p:pic>
      <p:sp>
        <p:nvSpPr>
          <p:cNvPr id="7" name="TextBox 42">
            <a:extLst>
              <a:ext uri="{FF2B5EF4-FFF2-40B4-BE49-F238E27FC236}">
                <a16:creationId xmlns:a16="http://schemas.microsoft.com/office/drawing/2014/main" id="{42FD9994-5292-231D-4165-26892309EB7E}"/>
              </a:ext>
            </a:extLst>
          </p:cNvPr>
          <p:cNvSpPr txBox="1"/>
          <p:nvPr userDrawn="1"/>
        </p:nvSpPr>
        <p:spPr>
          <a:xfrm>
            <a:off x="6136640" y="3757726"/>
            <a:ext cx="6176138" cy="4410914"/>
          </a:xfrm>
          <a:prstGeom prst="rect">
            <a:avLst/>
          </a:prstGeom>
          <a:noFill/>
        </p:spPr>
        <p:txBody>
          <a:bodyPr spcFirstLastPara="1" wrap="square" numCol="1" rtlCol="0">
            <a:prstTxWarp prst="textArchUp">
              <a:avLst>
                <a:gd name="adj" fmla="val 5730049"/>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8000" b="1" dirty="0">
                <a:ln w="38100">
                  <a:noFill/>
                </a:ln>
                <a:solidFill>
                  <a:schemeClr val="bg1"/>
                </a:solidFill>
                <a:effectLst>
                  <a:glow rad="228600">
                    <a:schemeClr val="accent5">
                      <a:satMod val="175000"/>
                      <a:alpha val="40000"/>
                    </a:schemeClr>
                  </a:glow>
                </a:effectLst>
              </a:rPr>
              <a:t>2026</a:t>
            </a:r>
            <a:endParaRPr lang="en-US" sz="3600" b="1" dirty="0">
              <a:ln w="38100">
                <a:noFill/>
              </a:ln>
              <a:solidFill>
                <a:schemeClr val="bg1"/>
              </a:solidFill>
              <a:effectLst>
                <a:glow rad="228600">
                  <a:schemeClr val="accent5">
                    <a:satMod val="175000"/>
                    <a:alpha val="40000"/>
                  </a:schemeClr>
                </a:glow>
              </a:effectLst>
            </a:endParaRPr>
          </a:p>
        </p:txBody>
      </p:sp>
      <p:sp>
        <p:nvSpPr>
          <p:cNvPr id="10" name="Google Shape;202;p45">
            <a:extLst>
              <a:ext uri="{FF2B5EF4-FFF2-40B4-BE49-F238E27FC236}">
                <a16:creationId xmlns:a16="http://schemas.microsoft.com/office/drawing/2014/main" id="{BEE938DF-602A-6074-42C8-C7067316AAE4}"/>
              </a:ext>
            </a:extLst>
          </p:cNvPr>
          <p:cNvSpPr txBox="1">
            <a:spLocks noGrp="1"/>
          </p:cNvSpPr>
          <p:nvPr>
            <p:ph type="title"/>
          </p:nvPr>
        </p:nvSpPr>
        <p:spPr>
          <a:xfrm>
            <a:off x="619762" y="1630349"/>
            <a:ext cx="5587999" cy="936496"/>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SzPts val="2800"/>
              <a:buNone/>
              <a:defRPr sz="3200" baseline="0">
                <a:solidFill>
                  <a:schemeClr val="accent4"/>
                </a:solidFill>
                <a:latin typeface="Arial Black" panose="020B0A04020102020204" pitchFamily="34"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11" name="Text Placeholder 40">
            <a:extLst>
              <a:ext uri="{FF2B5EF4-FFF2-40B4-BE49-F238E27FC236}">
                <a16:creationId xmlns:a16="http://schemas.microsoft.com/office/drawing/2014/main" id="{8030667F-3367-8E49-0E6C-D1D034904DD3}"/>
              </a:ext>
            </a:extLst>
          </p:cNvPr>
          <p:cNvSpPr>
            <a:spLocks noGrp="1"/>
          </p:cNvSpPr>
          <p:nvPr>
            <p:ph type="body" sz="quarter" idx="10"/>
          </p:nvPr>
        </p:nvSpPr>
        <p:spPr>
          <a:xfrm>
            <a:off x="619761" y="2797250"/>
            <a:ext cx="5587999" cy="3422575"/>
          </a:xfrm>
        </p:spPr>
        <p:txBody>
          <a:bodyPr/>
          <a:lstStyle>
            <a:lvl1pPr>
              <a:defRPr sz="2400">
                <a:solidFill>
                  <a:schemeClr val="bg1"/>
                </a:solidFill>
              </a:defRPr>
            </a:lvl1pPr>
            <a:lvl2pPr>
              <a:defRPr sz="2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6291408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8B1584E-8195-1F65-B6B5-60C5A2F96AFC}"/>
              </a:ext>
            </a:extLst>
          </p:cNvPr>
          <p:cNvGrpSpPr/>
          <p:nvPr userDrawn="1"/>
        </p:nvGrpSpPr>
        <p:grpSpPr>
          <a:xfrm>
            <a:off x="0" y="6002322"/>
            <a:ext cx="12192000" cy="863628"/>
            <a:chOff x="0" y="5921502"/>
            <a:chExt cx="12192000" cy="936497"/>
          </a:xfrm>
        </p:grpSpPr>
        <p:sp>
          <p:nvSpPr>
            <p:cNvPr id="14" name="Freeform: Shape 13">
              <a:extLst>
                <a:ext uri="{FF2B5EF4-FFF2-40B4-BE49-F238E27FC236}">
                  <a16:creationId xmlns:a16="http://schemas.microsoft.com/office/drawing/2014/main" id="{84DE944D-0FA2-4F5D-D47C-AEC29E4EC8C8}"/>
                </a:ext>
              </a:extLst>
            </p:cNvPr>
            <p:cNvSpPr/>
            <p:nvPr/>
          </p:nvSpPr>
          <p:spPr>
            <a:xfrm>
              <a:off x="4768850" y="6034196"/>
              <a:ext cx="3327400" cy="703153"/>
            </a:xfrm>
            <a:custGeom>
              <a:avLst/>
              <a:gdLst>
                <a:gd name="csX0" fmla="*/ 3327400 w 3327400"/>
                <a:gd name="csY0" fmla="*/ 17354 h 703153"/>
                <a:gd name="csX1" fmla="*/ 969264 w 3327400"/>
                <a:gd name="csY1" fmla="*/ 18 h 703153"/>
                <a:gd name="csX2" fmla="*/ 602678 w 3327400"/>
                <a:gd name="csY2" fmla="*/ 131019 h 703153"/>
                <a:gd name="csX3" fmla="*/ 0 w 3327400"/>
                <a:gd name="csY3" fmla="*/ 633304 h 703153"/>
                <a:gd name="csX4" fmla="*/ 3244850 w 3327400"/>
                <a:gd name="csY4" fmla="*/ 703154 h 703153"/>
              </a:gdLst>
              <a:ahLst/>
              <a:cxnLst>
                <a:cxn ang="0">
                  <a:pos x="csX0" y="csY0"/>
                </a:cxn>
                <a:cxn ang="0">
                  <a:pos x="csX1" y="csY1"/>
                </a:cxn>
                <a:cxn ang="0">
                  <a:pos x="csX2" y="csY2"/>
                </a:cxn>
                <a:cxn ang="0">
                  <a:pos x="csX3" y="csY3"/>
                </a:cxn>
                <a:cxn ang="0">
                  <a:pos x="csX4" y="csY4"/>
                </a:cxn>
              </a:cxnLst>
              <a:rect l="l" t="t" r="r" b="b"/>
              <a:pathLst>
                <a:path w="3327400" h="703153">
                  <a:moveTo>
                    <a:pt x="3327400" y="17354"/>
                  </a:moveTo>
                  <a:cubicBezTo>
                    <a:pt x="3109849" y="17354"/>
                    <a:pt x="1540510" y="4654"/>
                    <a:pt x="969264" y="18"/>
                  </a:cubicBezTo>
                  <a:cubicBezTo>
                    <a:pt x="835419" y="-1055"/>
                    <a:pt x="705529" y="45357"/>
                    <a:pt x="602678" y="131019"/>
                  </a:cubicBezTo>
                  <a:lnTo>
                    <a:pt x="0" y="633304"/>
                  </a:lnTo>
                  <a:lnTo>
                    <a:pt x="3244850" y="703154"/>
                  </a:lnTo>
                  <a:close/>
                </a:path>
              </a:pathLst>
            </a:custGeom>
            <a:solidFill>
              <a:srgbClr val="253C6D"/>
            </a:solidFill>
            <a:ln w="6350" cap="flat">
              <a:noFill/>
              <a:prstDash val="solid"/>
              <a:miter/>
            </a:ln>
          </p:spPr>
        </p:sp>
        <p:sp>
          <p:nvSpPr>
            <p:cNvPr id="15" name="Freeform: Shape 14">
              <a:extLst>
                <a:ext uri="{FF2B5EF4-FFF2-40B4-BE49-F238E27FC236}">
                  <a16:creationId xmlns:a16="http://schemas.microsoft.com/office/drawing/2014/main" id="{5B158948-199E-54F6-CC6A-CD062D4B5441}"/>
                </a:ext>
              </a:extLst>
            </p:cNvPr>
            <p:cNvSpPr/>
            <p:nvPr/>
          </p:nvSpPr>
          <p:spPr>
            <a:xfrm>
              <a:off x="0" y="5921502"/>
              <a:ext cx="12192000" cy="936497"/>
            </a:xfrm>
            <a:custGeom>
              <a:avLst/>
              <a:gdLst>
                <a:gd name="csX0" fmla="*/ 12192000 w 12192000"/>
                <a:gd name="csY0" fmla="*/ 2350 h 936497"/>
                <a:gd name="csX1" fmla="*/ 7964170 w 12192000"/>
                <a:gd name="csY1" fmla="*/ 0 h 936497"/>
                <a:gd name="csX2" fmla="*/ 7649019 w 12192000"/>
                <a:gd name="csY2" fmla="*/ 107315 h 936497"/>
                <a:gd name="csX3" fmla="*/ 6943027 w 12192000"/>
                <a:gd name="csY3" fmla="*/ 652272 h 936497"/>
                <a:gd name="csX4" fmla="*/ 6714427 w 12192000"/>
                <a:gd name="csY4" fmla="*/ 730187 h 936497"/>
                <a:gd name="csX5" fmla="*/ 0 w 12192000"/>
                <a:gd name="csY5" fmla="*/ 733298 h 936497"/>
                <a:gd name="csX6" fmla="*/ 0 w 12192000"/>
                <a:gd name="csY6" fmla="*/ 936498 h 936497"/>
                <a:gd name="csX7" fmla="*/ 12192000 w 12192000"/>
                <a:gd name="csY7" fmla="*/ 936498 h 936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936497">
                  <a:moveTo>
                    <a:pt x="12192000" y="2350"/>
                  </a:moveTo>
                  <a:lnTo>
                    <a:pt x="7964170" y="0"/>
                  </a:lnTo>
                  <a:cubicBezTo>
                    <a:pt x="7850124" y="-76"/>
                    <a:pt x="7739317" y="37668"/>
                    <a:pt x="7649019" y="107315"/>
                  </a:cubicBezTo>
                  <a:lnTo>
                    <a:pt x="6943027" y="652272"/>
                  </a:lnTo>
                  <a:cubicBezTo>
                    <a:pt x="6877558" y="702818"/>
                    <a:pt x="6797168" y="730187"/>
                    <a:pt x="6714427" y="730187"/>
                  </a:cubicBezTo>
                  <a:lnTo>
                    <a:pt x="0" y="733298"/>
                  </a:lnTo>
                  <a:lnTo>
                    <a:pt x="0" y="936498"/>
                  </a:lnTo>
                  <a:lnTo>
                    <a:pt x="12192000" y="936498"/>
                  </a:lnTo>
                  <a:close/>
                </a:path>
              </a:pathLst>
            </a:custGeom>
            <a:solidFill>
              <a:srgbClr val="F2842F"/>
            </a:solidFill>
            <a:ln w="6350" cap="flat">
              <a:noFill/>
              <a:prstDash val="solid"/>
              <a:miter/>
            </a:ln>
          </p:spPr>
        </p:sp>
      </p:grpSp>
      <p:sp>
        <p:nvSpPr>
          <p:cNvPr id="3" name="Google Shape;202;p45">
            <a:extLst>
              <a:ext uri="{FF2B5EF4-FFF2-40B4-BE49-F238E27FC236}">
                <a16:creationId xmlns:a16="http://schemas.microsoft.com/office/drawing/2014/main" id="{6BF16071-0212-0BAB-F060-72458C919684}"/>
              </a:ext>
            </a:extLst>
          </p:cNvPr>
          <p:cNvSpPr txBox="1">
            <a:spLocks noGrp="1"/>
          </p:cNvSpPr>
          <p:nvPr>
            <p:ph type="title"/>
          </p:nvPr>
        </p:nvSpPr>
        <p:spPr>
          <a:xfrm>
            <a:off x="1351279" y="404813"/>
            <a:ext cx="8627829" cy="574656"/>
          </a:xfrm>
          <a:prstGeom prst="rect">
            <a:avLst/>
          </a:prstGeom>
          <a:noFill/>
          <a:ln>
            <a:noFill/>
          </a:ln>
        </p:spPr>
        <p:txBody>
          <a:bodyPr spcFirstLastPara="1" wrap="square" lIns="91425" tIns="91425" rIns="91425" bIns="91425" anchor="t" anchorCtr="0">
            <a:normAutofit/>
          </a:bodyPr>
          <a:lstStyle>
            <a:lvl1pPr lvl="0" algn="ctr">
              <a:lnSpc>
                <a:spcPct val="90000"/>
              </a:lnSpc>
              <a:spcBef>
                <a:spcPts val="0"/>
              </a:spcBef>
              <a:spcAft>
                <a:spcPts val="0"/>
              </a:spcAft>
              <a:buSzPts val="2800"/>
              <a:buNone/>
              <a:defRPr sz="2400" baseline="0">
                <a:solidFill>
                  <a:schemeClr val="accent1"/>
                </a:solidFill>
                <a:latin typeface="Arial Black" panose="020B0A04020102020204" pitchFamily="34"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pic>
        <p:nvPicPr>
          <p:cNvPr id="8" name="Picture 7" descr="Sathyabama Institute of Science and Technology Marks Calculator | CGPA &amp;  SGPA">
            <a:extLst>
              <a:ext uri="{FF2B5EF4-FFF2-40B4-BE49-F238E27FC236}">
                <a16:creationId xmlns:a16="http://schemas.microsoft.com/office/drawing/2014/main" id="{F2C043C2-F269-2061-CA94-F6ACF5D2C042}"/>
              </a:ext>
            </a:extLst>
          </p:cNvPr>
          <p:cNvPicPr>
            <a:picLocks noChangeAspect="1"/>
          </p:cNvPicPr>
          <p:nvPr userDrawn="1"/>
        </p:nvPicPr>
        <p:blipFill>
          <a:blip r:embed="rId2"/>
          <a:stretch>
            <a:fillRect/>
          </a:stretch>
        </p:blipFill>
        <p:spPr>
          <a:xfrm>
            <a:off x="159701" y="148062"/>
            <a:ext cx="1047750" cy="1047750"/>
          </a:xfrm>
          <a:prstGeom prst="rect">
            <a:avLst/>
          </a:prstGeom>
        </p:spPr>
      </p:pic>
      <p:sp>
        <p:nvSpPr>
          <p:cNvPr id="9" name="Slide Number Placeholder 5">
            <a:extLst>
              <a:ext uri="{FF2B5EF4-FFF2-40B4-BE49-F238E27FC236}">
                <a16:creationId xmlns:a16="http://schemas.microsoft.com/office/drawing/2014/main" id="{6B420C4F-56EC-8F21-F85A-F539849ADBF2}"/>
              </a:ext>
            </a:extLst>
          </p:cNvPr>
          <p:cNvSpPr>
            <a:spLocks noGrp="1"/>
          </p:cNvSpPr>
          <p:nvPr>
            <p:ph type="sldNum" sz="quarter" idx="4"/>
          </p:nvPr>
        </p:nvSpPr>
        <p:spPr>
          <a:xfrm>
            <a:off x="8610600" y="6356350"/>
            <a:ext cx="3209924" cy="365125"/>
          </a:xfrm>
          <a:prstGeom prst="rect">
            <a:avLst/>
          </a:prstGeom>
        </p:spPr>
        <p:txBody>
          <a:bodyPr vert="horz" lIns="91440" tIns="45720" rIns="91440" bIns="45720" rtlCol="0" anchor="ctr"/>
          <a:lstStyle>
            <a:lvl1pPr algn="r">
              <a:defRPr sz="1200">
                <a:solidFill>
                  <a:schemeClr val="bg1"/>
                </a:solidFill>
              </a:defRPr>
            </a:lvl1pPr>
          </a:lstStyle>
          <a:p>
            <a:fld id="{A6FCFE0C-FD5A-4524-A8B1-CEC4446D43C3}" type="slidenum">
              <a:rPr lang="en-US" smtClean="0"/>
              <a:pPr/>
              <a:t>‹#›</a:t>
            </a:fld>
            <a:endParaRPr lang="en-US" dirty="0"/>
          </a:p>
        </p:txBody>
      </p:sp>
      <p:sp>
        <p:nvSpPr>
          <p:cNvPr id="17" name="Text Placeholder 40">
            <a:extLst>
              <a:ext uri="{FF2B5EF4-FFF2-40B4-BE49-F238E27FC236}">
                <a16:creationId xmlns:a16="http://schemas.microsoft.com/office/drawing/2014/main" id="{011DAA12-713E-1B53-F990-5B1A0D6AE414}"/>
              </a:ext>
            </a:extLst>
          </p:cNvPr>
          <p:cNvSpPr>
            <a:spLocks noGrp="1"/>
          </p:cNvSpPr>
          <p:nvPr>
            <p:ph type="body" sz="quarter" idx="10"/>
          </p:nvPr>
        </p:nvSpPr>
        <p:spPr>
          <a:xfrm>
            <a:off x="371475" y="1333497"/>
            <a:ext cx="11449048" cy="4620263"/>
          </a:xfrm>
        </p:spPr>
        <p:txBody>
          <a:bodyPr/>
          <a:lstStyle>
            <a:lvl1pPr>
              <a:buFontTx/>
              <a:buNone/>
              <a:defRPr sz="2400">
                <a:solidFill>
                  <a:schemeClr val="tx1"/>
                </a:solidFill>
              </a:defRPr>
            </a:lvl1pPr>
            <a:lvl2pPr>
              <a:defRPr sz="2200">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8" name="Graphic 37">
            <a:extLst>
              <a:ext uri="{FF2B5EF4-FFF2-40B4-BE49-F238E27FC236}">
                <a16:creationId xmlns:a16="http://schemas.microsoft.com/office/drawing/2014/main" id="{29AF0423-0B38-9B7C-662A-52BEE3FBDD14}"/>
              </a:ext>
            </a:extLst>
          </p:cNvPr>
          <p:cNvPicPr>
            <a:picLocks noChangeAspect="1"/>
          </p:cNvPicPr>
          <p:nvPr userDrawn="1"/>
        </p:nvPicPr>
        <p:blipFill>
          <a:blip>
            <a:extLst>
              <a:ext uri="{96DAC541-7B7A-43D3-8B79-37D633B846F1}">
                <asvg:svgBlip xmlns:asvg="http://schemas.microsoft.com/office/drawing/2016/SVG/main" r:embed="rId3"/>
              </a:ext>
            </a:extLst>
          </a:blip>
          <a:srcRect l="10166" t="15259" r="11845" b="67408"/>
          <a:stretch>
            <a:fillRect/>
          </a:stretch>
        </p:blipFill>
        <p:spPr>
          <a:xfrm>
            <a:off x="9979108" y="364408"/>
            <a:ext cx="1955579" cy="615061"/>
          </a:xfrm>
          <a:prstGeom prst="rect">
            <a:avLst/>
          </a:prstGeom>
        </p:spPr>
      </p:pic>
    </p:spTree>
    <p:extLst>
      <p:ext uri="{BB962C8B-B14F-4D97-AF65-F5344CB8AC3E}">
        <p14:creationId xmlns:p14="http://schemas.microsoft.com/office/powerpoint/2010/main" val="3695083057"/>
      </p:ext>
    </p:extLst>
  </p:cSld>
  <p:clrMapOvr>
    <a:masterClrMapping/>
  </p:clrMapOvr>
  <p:extLst>
    <p:ext uri="{DCECCB84-F9BA-43D5-87BE-67443E8EF086}">
      <p15:sldGuideLst xmlns:p15="http://schemas.microsoft.com/office/powerpoint/2012/main">
        <p15:guide id="1" orient="horz" pos="255" userDrawn="1">
          <p15:clr>
            <a:srgbClr val="FBAE40"/>
          </p15:clr>
        </p15:guide>
        <p15:guide id="2" pos="234" userDrawn="1">
          <p15:clr>
            <a:srgbClr val="FBAE40"/>
          </p15:clr>
        </p15:guide>
        <p15:guide id="3" pos="7446"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6F7FB7-8A81-2B7E-ED1D-92AF28D59D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347671-D508-B7AD-B296-E1CA61705D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622D36-9015-9164-2ED7-AD3DF46070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CE825E12-DB88-696D-9012-0D8486CF5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2F1C9F-DDFD-4251-4985-A2941FAC10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FCFE0C-FD5A-4524-A8B1-CEC4446D43C3}" type="slidenum">
              <a:rPr lang="en-US" smtClean="0"/>
              <a:t>‹#›</a:t>
            </a:fld>
            <a:endParaRPr lang="en-US" dirty="0"/>
          </a:p>
        </p:txBody>
      </p:sp>
    </p:spTree>
    <p:extLst>
      <p:ext uri="{BB962C8B-B14F-4D97-AF65-F5344CB8AC3E}">
        <p14:creationId xmlns:p14="http://schemas.microsoft.com/office/powerpoint/2010/main" val="1008909994"/>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AFDAC-57A7-98AC-D986-6B23EEBCACA4}"/>
            </a:ext>
          </a:extLst>
        </p:cNvPr>
        <p:cNvGrpSpPr/>
        <p:nvPr/>
      </p:nvGrpSpPr>
      <p:grpSpPr>
        <a:xfrm>
          <a:off x="0" y="0"/>
          <a:ext cx="0" cy="0"/>
          <a:chOff x="0" y="0"/>
          <a:chExt cx="0" cy="0"/>
        </a:xfrm>
      </p:grpSpPr>
      <p:sp>
        <p:nvSpPr>
          <p:cNvPr id="33" name="Title 32">
            <a:extLst>
              <a:ext uri="{FF2B5EF4-FFF2-40B4-BE49-F238E27FC236}">
                <a16:creationId xmlns:a16="http://schemas.microsoft.com/office/drawing/2014/main" id="{06CD56A3-578C-0180-77A5-729AC0806549}"/>
              </a:ext>
            </a:extLst>
          </p:cNvPr>
          <p:cNvSpPr>
            <a:spLocks noGrp="1"/>
          </p:cNvSpPr>
          <p:nvPr>
            <p:ph type="title"/>
          </p:nvPr>
        </p:nvSpPr>
        <p:spPr>
          <a:xfrm>
            <a:off x="619762" y="1630349"/>
            <a:ext cx="5587999" cy="936496"/>
          </a:xfrm>
        </p:spPr>
        <p:txBody>
          <a:bodyPr>
            <a:normAutofit/>
          </a:bodyPr>
          <a:lstStyle/>
          <a:p>
            <a:r>
              <a:rPr lang="en-US" dirty="0"/>
              <a:t>ARTIFICIAL PANCREAS</a:t>
            </a:r>
          </a:p>
        </p:txBody>
      </p:sp>
      <p:sp>
        <p:nvSpPr>
          <p:cNvPr id="34" name="Text Placeholder 33">
            <a:extLst>
              <a:ext uri="{FF2B5EF4-FFF2-40B4-BE49-F238E27FC236}">
                <a16:creationId xmlns:a16="http://schemas.microsoft.com/office/drawing/2014/main" id="{C8589B8E-4A29-73AF-5A2F-EB72CC734F98}"/>
              </a:ext>
            </a:extLst>
          </p:cNvPr>
          <p:cNvSpPr>
            <a:spLocks noGrp="1"/>
          </p:cNvSpPr>
          <p:nvPr>
            <p:ph type="body" sz="quarter" idx="10"/>
          </p:nvPr>
        </p:nvSpPr>
        <p:spPr>
          <a:xfrm>
            <a:off x="619761" y="2797250"/>
            <a:ext cx="5587999" cy="3422575"/>
          </a:xfrm>
        </p:spPr>
        <p:txBody>
          <a:bodyPr>
            <a:normAutofit/>
          </a:bodyPr>
          <a:lstStyle/>
          <a:p>
            <a:r>
              <a:rPr lang="en-US" dirty="0"/>
              <a:t>Team Name- Moorthy &amp; Gang</a:t>
            </a:r>
          </a:p>
          <a:p>
            <a:r>
              <a:rPr lang="en-US" dirty="0"/>
              <a:t>Theme- Bio-Inspired Closed-Loop Diabetes Care</a:t>
            </a:r>
          </a:p>
          <a:p>
            <a:r>
              <a:rPr lang="en-US" dirty="0"/>
              <a:t>PS Category- Hardware + Software</a:t>
            </a:r>
          </a:p>
          <a:p>
            <a:r>
              <a:rPr lang="en-US" dirty="0"/>
              <a:t>Team ID- DEX26319</a:t>
            </a:r>
          </a:p>
        </p:txBody>
      </p:sp>
      <p:sp>
        <p:nvSpPr>
          <p:cNvPr id="15" name="Slide Number Placeholder 14">
            <a:extLst>
              <a:ext uri="{FF2B5EF4-FFF2-40B4-BE49-F238E27FC236}">
                <a16:creationId xmlns:a16="http://schemas.microsoft.com/office/drawing/2014/main" id="{0BA1547A-8CFB-621B-D78D-7A6A2FC2123A}"/>
              </a:ext>
            </a:extLst>
          </p:cNvPr>
          <p:cNvSpPr>
            <a:spLocks noGrp="1"/>
          </p:cNvSpPr>
          <p:nvPr>
            <p:ph type="sldNum" sz="quarter" idx="4294967295"/>
          </p:nvPr>
        </p:nvSpPr>
        <p:spPr>
          <a:xfrm>
            <a:off x="8982075" y="6356350"/>
            <a:ext cx="3209925" cy="365125"/>
          </a:xfrm>
        </p:spPr>
        <p:txBody>
          <a:bodyPr/>
          <a:lstStyle/>
          <a:p>
            <a:fld id="{A6FCFE0C-FD5A-4524-A8B1-CEC4446D43C3}" type="slidenum">
              <a:rPr lang="en-US" smtClean="0"/>
              <a:pPr/>
              <a:t>1</a:t>
            </a:fld>
            <a:endParaRPr lang="en-US" dirty="0"/>
          </a:p>
        </p:txBody>
      </p:sp>
    </p:spTree>
    <p:extLst>
      <p:ext uri="{BB962C8B-B14F-4D97-AF65-F5344CB8AC3E}">
        <p14:creationId xmlns:p14="http://schemas.microsoft.com/office/powerpoint/2010/main" val="2484248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174EA7-003F-89B1-1E7C-F8A57DE90389}"/>
              </a:ext>
            </a:extLst>
          </p:cNvPr>
          <p:cNvSpPr>
            <a:spLocks noGrp="1"/>
          </p:cNvSpPr>
          <p:nvPr>
            <p:ph type="title"/>
          </p:nvPr>
        </p:nvSpPr>
        <p:spPr>
          <a:xfrm>
            <a:off x="371476" y="404813"/>
            <a:ext cx="10474104" cy="574656"/>
          </a:xfrm>
        </p:spPr>
        <p:txBody>
          <a:bodyPr>
            <a:normAutofit/>
          </a:bodyPr>
          <a:lstStyle/>
          <a:p>
            <a:r>
              <a:rPr lang="en-US"/>
              <a:t>ARTIFICIAL PANCREAS BENCH MODEL</a:t>
            </a:r>
            <a:endParaRPr lang="en-US" dirty="0"/>
          </a:p>
        </p:txBody>
      </p:sp>
      <p:sp>
        <p:nvSpPr>
          <p:cNvPr id="9" name="Slide Number Placeholder 8">
            <a:extLst>
              <a:ext uri="{FF2B5EF4-FFF2-40B4-BE49-F238E27FC236}">
                <a16:creationId xmlns:a16="http://schemas.microsoft.com/office/drawing/2014/main" id="{0849F55E-3122-1F47-4A39-E67B9B6E4579}"/>
              </a:ext>
            </a:extLst>
          </p:cNvPr>
          <p:cNvSpPr>
            <a:spLocks noGrp="1"/>
          </p:cNvSpPr>
          <p:nvPr>
            <p:ph type="sldNum" sz="quarter" idx="4"/>
          </p:nvPr>
        </p:nvSpPr>
        <p:spPr>
          <a:xfrm>
            <a:off x="8610600" y="6356350"/>
            <a:ext cx="3209924" cy="365125"/>
          </a:xfrm>
        </p:spPr>
        <p:txBody>
          <a:bodyPr/>
          <a:lstStyle/>
          <a:p>
            <a:fld id="{A6FCFE0C-FD5A-4524-A8B1-CEC4446D43C3}" type="slidenum">
              <a:rPr lang="en-US" smtClean="0"/>
              <a:pPr/>
              <a:t>2</a:t>
            </a:fld>
            <a:endParaRPr lang="en-US" dirty="0"/>
          </a:p>
        </p:txBody>
      </p:sp>
      <p:sp>
        <p:nvSpPr>
          <p:cNvPr id="8" name="Text Placeholder 7">
            <a:extLst>
              <a:ext uri="{FF2B5EF4-FFF2-40B4-BE49-F238E27FC236}">
                <a16:creationId xmlns:a16="http://schemas.microsoft.com/office/drawing/2014/main" id="{648FC1CE-9842-CF70-2FC2-083A8478349F}"/>
              </a:ext>
            </a:extLst>
          </p:cNvPr>
          <p:cNvSpPr>
            <a:spLocks noGrp="1"/>
          </p:cNvSpPr>
          <p:nvPr>
            <p:ph type="body" sz="quarter" idx="10"/>
          </p:nvPr>
        </p:nvSpPr>
        <p:spPr>
          <a:xfrm>
            <a:off x="371475" y="1333497"/>
            <a:ext cx="7350000" cy="3600000"/>
          </a:xfrm>
        </p:spPr>
        <p:txBody>
          <a:bodyPr lIns="91440" tIns="45720" rIns="91440" bIns="45720">
            <a:normAutofit/>
          </a:bodyPr>
          <a:lstStyle/>
          <a:p>
            <a:pPr marL="0" indent="0" algn="l">
              <a:lnSpc>
                <a:spcPct val="100000"/>
              </a:lnSpc>
              <a:spcBef>
                <a:spcPts val="0"/>
              </a:spcBef>
              <a:spcAft>
                <a:spcPts val="0"/>
              </a:spcAft>
              <a:buNone/>
            </a:pPr>
            <a:r>
              <a:rPr lang="en-US" sz="1500" b="1" dirty="0">
                <a:solidFill>
                  <a:srgbClr val="253C6D"/>
                </a:solidFill>
              </a:rPr>
              <a:t>Proposed Solution: </a:t>
            </a:r>
            <a:r>
              <a:rPr lang="en-US" sz="1500" b="1" dirty="0">
                <a:solidFill>
                  <a:srgbClr val="333333"/>
                </a:solidFill>
              </a:rPr>
              <a:t>a low-cost hardware + software bench model that copies the two jobs of the pancreas: glucose control (endocrine) and digestive support (exocrine).</a:t>
            </a:r>
          </a:p>
          <a:p>
            <a:pPr marL="228600" indent="-228600" algn="l">
              <a:lnSpc>
                <a:spcPct val="100000"/>
              </a:lnSpc>
              <a:spcBef>
                <a:spcPts val="900"/>
              </a:spcBef>
              <a:spcAft>
                <a:spcPts val="0"/>
              </a:spcAft>
              <a:buFont typeface="Arial"/>
              <a:buChar char="•"/>
            </a:pPr>
            <a:r>
              <a:rPr lang="en-US" sz="1400" b="1" dirty="0">
                <a:solidFill>
                  <a:srgbClr val="253C6D"/>
                </a:solidFill>
              </a:rPr>
              <a:t>Detailed explanation: </a:t>
            </a:r>
            <a:r>
              <a:rPr lang="en-US" sz="1400" dirty="0">
                <a:solidFill>
                  <a:srgbClr val="333333"/>
                </a:solidFill>
              </a:rPr>
              <a:t>An ESP32 controller runs a sense, decide, act and feedback loop on simulated glucose values. A stepper-driven syringe pump delivers the insulin stand-in, while peristaltic enzyme and buffer pumps with a pH probe model digestion. A Wi-Fi web portal gives the patient and the doctor live views.</a:t>
            </a:r>
          </a:p>
          <a:p>
            <a:pPr marL="228600" indent="-228600" algn="l">
              <a:lnSpc>
                <a:spcPct val="100000"/>
              </a:lnSpc>
              <a:spcBef>
                <a:spcPts val="900"/>
              </a:spcBef>
              <a:spcAft>
                <a:spcPts val="0"/>
              </a:spcAft>
              <a:buFont typeface="Arial"/>
              <a:buChar char="•"/>
            </a:pPr>
            <a:r>
              <a:rPr lang="en-US" sz="1400" b="1" dirty="0">
                <a:solidFill>
                  <a:srgbClr val="253C6D"/>
                </a:solidFill>
              </a:rPr>
              <a:t>How it addresses the problem: </a:t>
            </a:r>
            <a:r>
              <a:rPr lang="en-US" sz="1400" dirty="0">
                <a:solidFill>
                  <a:srgbClr val="333333"/>
                </a:solidFill>
              </a:rPr>
              <a:t>Diabetes affects 1 in 9 adults, and insulin-dependent care benefits most from automation, yet commercial pumps cost thousands of USD. Our model costs about 136 USD, so students, clinicians and researchers can practise and test dosing logic safely before any clinical path.</a:t>
            </a:r>
          </a:p>
          <a:p>
            <a:pPr marL="228600" indent="-228600" algn="l">
              <a:lnSpc>
                <a:spcPct val="100000"/>
              </a:lnSpc>
              <a:spcBef>
                <a:spcPts val="900"/>
              </a:spcBef>
              <a:spcAft>
                <a:spcPts val="0"/>
              </a:spcAft>
              <a:buFont typeface="Arial"/>
              <a:buChar char="•"/>
            </a:pPr>
            <a:r>
              <a:rPr lang="en-US" sz="1400" b="1" dirty="0">
                <a:solidFill>
                  <a:srgbClr val="253C6D"/>
                </a:solidFill>
              </a:rPr>
              <a:t>Innovation and uniqueness: </a:t>
            </a:r>
            <a:r>
              <a:rPr lang="en-US" sz="1400" dirty="0">
                <a:solidFill>
                  <a:srgbClr val="333333"/>
                </a:solidFill>
              </a:rPr>
              <a:t>Endocrine and exocrine functions in one model; hard safety limits on every dose; one web page with two roles (patient and PIN-protected doctor); runs with or without the hardware; open-source.</a:t>
            </a:r>
          </a:p>
        </p:txBody>
      </p:sp>
      <p:sp>
        <p:nvSpPr>
          <p:cNvPr id="101" name="Scope note"/>
          <p:cNvSpPr/>
          <p:nvPr/>
        </p:nvSpPr>
        <p:spPr>
          <a:xfrm>
            <a:off x="371475" y="5000000"/>
            <a:ext cx="7350000" cy="700000"/>
          </a:xfrm>
          <a:prstGeom prst="roundRect">
            <a:avLst>
              <a:gd name="adj" fmla="val 8000"/>
            </a:avLst>
          </a:prstGeom>
          <a:solidFill>
            <a:srgbClr val="FEF1E6"/>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1200" b="1" dirty="0">
                <a:solidFill>
                  <a:srgbClr val="F2842F"/>
                </a:solidFill>
              </a:rPr>
              <a:t>Scope: </a:t>
            </a:r>
            <a:r>
              <a:rPr lang="en-US" sz="1200" i="1" dirty="0">
                <a:solidFill>
                  <a:srgbClr val="333333"/>
                </a:solidFill>
              </a:rPr>
              <a:t>educational bench demonstration only. Glucose values are simulated and the pumps move water; never use on a person.</a:t>
            </a:r>
          </a:p>
        </p:txBody>
      </p:sp>
      <p:sp>
        <p:nvSpPr>
          <p:cNvPr id="102" name="Stat 589M"/>
          <p:cNvSpPr/>
          <p:nvPr/>
        </p:nvSpPr>
        <p:spPr>
          <a:xfrm>
            <a:off x="8000000" y="1400000"/>
            <a:ext cx="3820000" cy="1300000"/>
          </a:xfrm>
          <a:prstGeom prst="roundRect">
            <a:avLst>
              <a:gd name="adj" fmla="val 8000"/>
            </a:avLst>
          </a:prstGeom>
          <a:solidFill>
            <a:srgbClr val="253C6D"/>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2800" b="1" dirty="0">
                <a:solidFill>
                  <a:srgbClr val="FFFFFF"/>
                </a:solidFill>
              </a:rPr>
              <a:t>589 M</a:t>
            </a:r>
          </a:p>
          <a:p>
            <a:pPr marL="0" indent="0" algn="l">
              <a:lnSpc>
                <a:spcPct val="100000"/>
              </a:lnSpc>
              <a:spcBef>
                <a:spcPts val="0"/>
              </a:spcBef>
              <a:spcAft>
                <a:spcPts val="0"/>
              </a:spcAft>
              <a:buNone/>
            </a:pPr>
            <a:r>
              <a:rPr lang="en-US" sz="1200" dirty="0">
                <a:solidFill>
                  <a:srgbClr val="FFFFFF"/>
                </a:solidFill>
              </a:rPr>
              <a:t>adults (20-79) living with diabetes, 2024 (IDF)</a:t>
            </a:r>
          </a:p>
        </p:txBody>
      </p:sp>
      <p:sp>
        <p:nvSpPr>
          <p:cNvPr id="103" name="Stat 252M"/>
          <p:cNvSpPr/>
          <p:nvPr/>
        </p:nvSpPr>
        <p:spPr>
          <a:xfrm>
            <a:off x="8000000" y="2850000"/>
            <a:ext cx="3820000" cy="1300000"/>
          </a:xfrm>
          <a:prstGeom prst="roundRect">
            <a:avLst>
              <a:gd name="adj" fmla="val 8000"/>
            </a:avLst>
          </a:prstGeom>
          <a:solidFill>
            <a:srgbClr val="253C6D"/>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2800" b="1" dirty="0">
                <a:solidFill>
                  <a:srgbClr val="FFFFFF"/>
                </a:solidFill>
              </a:rPr>
              <a:t>252 M</a:t>
            </a:r>
          </a:p>
          <a:p>
            <a:pPr marL="0" indent="0" algn="l">
              <a:lnSpc>
                <a:spcPct val="100000"/>
              </a:lnSpc>
              <a:spcBef>
                <a:spcPts val="0"/>
              </a:spcBef>
              <a:spcAft>
                <a:spcPts val="0"/>
              </a:spcAft>
              <a:buNone/>
            </a:pPr>
            <a:r>
              <a:rPr lang="en-US" sz="1200" dirty="0">
                <a:solidFill>
                  <a:srgbClr val="FFFFFF"/>
                </a:solidFill>
              </a:rPr>
              <a:t>adults who do not know they have it</a:t>
            </a:r>
          </a:p>
        </p:txBody>
      </p:sp>
      <p:sp>
        <p:nvSpPr>
          <p:cNvPr id="104" name="Stat 136 USD"/>
          <p:cNvSpPr/>
          <p:nvPr/>
        </p:nvSpPr>
        <p:spPr>
          <a:xfrm>
            <a:off x="8000000" y="4300000"/>
            <a:ext cx="3820000" cy="1300000"/>
          </a:xfrm>
          <a:prstGeom prst="roundRect">
            <a:avLst>
              <a:gd name="adj" fmla="val 8000"/>
            </a:avLst>
          </a:prstGeom>
          <a:solidFill>
            <a:srgbClr val="F2842F"/>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2800" b="1" dirty="0">
                <a:solidFill>
                  <a:srgbClr val="FFFFFF"/>
                </a:solidFill>
              </a:rPr>
              <a:t>~136 USD</a:t>
            </a:r>
          </a:p>
          <a:p>
            <a:pPr marL="0" indent="0" algn="l">
              <a:lnSpc>
                <a:spcPct val="100000"/>
              </a:lnSpc>
              <a:spcBef>
                <a:spcPts val="0"/>
              </a:spcBef>
              <a:spcAft>
                <a:spcPts val="0"/>
              </a:spcAft>
              <a:buNone/>
            </a:pPr>
            <a:r>
              <a:rPr lang="en-US" sz="1200" dirty="0">
                <a:solidFill>
                  <a:srgbClr val="FFFFFF"/>
                </a:solidFill>
              </a:rPr>
              <a:t>total build cost of the working prototype</a:t>
            </a:r>
          </a:p>
        </p:txBody>
      </p:sp>
    </p:spTree>
    <p:extLst>
      <p:ext uri="{BB962C8B-B14F-4D97-AF65-F5344CB8AC3E}">
        <p14:creationId xmlns:p14="http://schemas.microsoft.com/office/powerpoint/2010/main" val="3855170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3A9B2-4145-047E-4788-11A7E65AB76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656E314-826D-F661-98DC-382C68092867}"/>
              </a:ext>
            </a:extLst>
          </p:cNvPr>
          <p:cNvSpPr>
            <a:spLocks noGrp="1"/>
          </p:cNvSpPr>
          <p:nvPr>
            <p:ph type="title"/>
          </p:nvPr>
        </p:nvSpPr>
        <p:spPr>
          <a:xfrm>
            <a:off x="371476" y="404813"/>
            <a:ext cx="10474104" cy="574656"/>
          </a:xfrm>
        </p:spPr>
        <p:txBody>
          <a:bodyPr>
            <a:normAutofit/>
          </a:bodyPr>
          <a:lstStyle/>
          <a:p>
            <a:r>
              <a:rPr lang="en-US" dirty="0"/>
              <a:t>TECHNICAL APPROACH</a:t>
            </a:r>
          </a:p>
        </p:txBody>
      </p:sp>
      <p:sp>
        <p:nvSpPr>
          <p:cNvPr id="9" name="Slide Number Placeholder 8">
            <a:extLst>
              <a:ext uri="{FF2B5EF4-FFF2-40B4-BE49-F238E27FC236}">
                <a16:creationId xmlns:a16="http://schemas.microsoft.com/office/drawing/2014/main" id="{9B78579B-D1ED-8571-DE02-5C97F25C2107}"/>
              </a:ext>
            </a:extLst>
          </p:cNvPr>
          <p:cNvSpPr>
            <a:spLocks noGrp="1"/>
          </p:cNvSpPr>
          <p:nvPr>
            <p:ph type="sldNum" sz="quarter" idx="4"/>
          </p:nvPr>
        </p:nvSpPr>
        <p:spPr>
          <a:xfrm>
            <a:off x="8610600" y="6356350"/>
            <a:ext cx="3209924" cy="365125"/>
          </a:xfrm>
        </p:spPr>
        <p:txBody>
          <a:bodyPr/>
          <a:lstStyle/>
          <a:p>
            <a:fld id="{A6FCFE0C-FD5A-4524-A8B1-CEC4446D43C3}" type="slidenum">
              <a:rPr lang="en-US" smtClean="0"/>
              <a:pPr/>
              <a:t>3</a:t>
            </a:fld>
            <a:endParaRPr lang="en-US" dirty="0"/>
          </a:p>
        </p:txBody>
      </p:sp>
      <p:sp>
        <p:nvSpPr>
          <p:cNvPr id="8" name="Text Placeholder 7">
            <a:extLst>
              <a:ext uri="{FF2B5EF4-FFF2-40B4-BE49-F238E27FC236}">
                <a16:creationId xmlns:a16="http://schemas.microsoft.com/office/drawing/2014/main" id="{54E683CC-7AD2-3D83-D0E5-34D9E4E33C65}"/>
              </a:ext>
            </a:extLst>
          </p:cNvPr>
          <p:cNvSpPr>
            <a:spLocks noGrp="1"/>
          </p:cNvSpPr>
          <p:nvPr>
            <p:ph type="body" sz="quarter" idx="10"/>
          </p:nvPr>
        </p:nvSpPr>
        <p:spPr>
          <a:xfrm>
            <a:off x="371475" y="1333497"/>
            <a:ext cx="5400000" cy="4400000"/>
          </a:xfrm>
        </p:spPr>
        <p:txBody>
          <a:bodyPr lIns="91440" tIns="45720" rIns="91440" bIns="45720">
            <a:normAutofit/>
          </a:bodyPr>
          <a:lstStyle/>
          <a:p>
            <a:pPr marL="0" indent="0" algn="l">
              <a:lnSpc>
                <a:spcPct val="100000"/>
              </a:lnSpc>
              <a:spcBef>
                <a:spcPts val="0"/>
              </a:spcBef>
              <a:spcAft>
                <a:spcPts val="0"/>
              </a:spcAft>
              <a:buNone/>
            </a:pPr>
            <a:r>
              <a:rPr lang="en-US" sz="1500" b="1" dirty="0">
                <a:solidFill>
                  <a:srgbClr val="253C6D"/>
                </a:solidFill>
              </a:rPr>
              <a:t>Technologies to be used</a:t>
            </a:r>
          </a:p>
          <a:p>
            <a:pPr marL="228600" indent="-228600" algn="l">
              <a:lnSpc>
                <a:spcPct val="100000"/>
              </a:lnSpc>
              <a:spcBef>
                <a:spcPts val="1000"/>
              </a:spcBef>
              <a:spcAft>
                <a:spcPts val="0"/>
              </a:spcAft>
              <a:buFont typeface="Arial"/>
              <a:buChar char="•"/>
            </a:pPr>
            <a:r>
              <a:rPr lang="en-US" sz="1400" b="1" dirty="0">
                <a:solidFill>
                  <a:srgbClr val="253C6D"/>
                </a:solidFill>
              </a:rPr>
              <a:t>Controller: </a:t>
            </a:r>
            <a:r>
              <a:rPr lang="en-US" sz="1400" dirty="0">
                <a:solidFill>
                  <a:srgbClr val="333333"/>
                </a:solidFill>
              </a:rPr>
              <a:t>ESP32 DevKit with built-in Wi-Fi hotspot</a:t>
            </a:r>
          </a:p>
          <a:p>
            <a:pPr marL="228600" indent="-228600" algn="l">
              <a:lnSpc>
                <a:spcPct val="100000"/>
              </a:lnSpc>
              <a:spcBef>
                <a:spcPts val="1000"/>
              </a:spcBef>
              <a:spcAft>
                <a:spcPts val="0"/>
              </a:spcAft>
              <a:buFont typeface="Arial"/>
              <a:buChar char="•"/>
            </a:pPr>
            <a:r>
              <a:rPr lang="en-US" sz="1400" b="1" dirty="0">
                <a:solidFill>
                  <a:srgbClr val="253C6D"/>
                </a:solidFill>
              </a:rPr>
              <a:t>Insulin module: </a:t>
            </a:r>
            <a:r>
              <a:rPr lang="en-US" sz="1400" dirty="0">
                <a:solidFill>
                  <a:srgbClr val="333333"/>
                </a:solidFill>
              </a:rPr>
              <a:t>NEMA17 stepper + A4988 driver, T8 lead screw, 5 mL syringe, limit switch</a:t>
            </a:r>
          </a:p>
          <a:p>
            <a:pPr marL="228600" indent="-228600" algn="l">
              <a:lnSpc>
                <a:spcPct val="100000"/>
              </a:lnSpc>
              <a:spcBef>
                <a:spcPts val="1000"/>
              </a:spcBef>
              <a:spcAft>
                <a:spcPts val="0"/>
              </a:spcAft>
              <a:buFont typeface="Arial"/>
              <a:buChar char="•"/>
            </a:pPr>
            <a:r>
              <a:rPr lang="en-US" sz="1400" b="1" dirty="0">
                <a:solidFill>
                  <a:srgbClr val="253C6D"/>
                </a:solidFill>
              </a:rPr>
              <a:t>Digestive module: </a:t>
            </a:r>
            <a:r>
              <a:rPr lang="en-US" sz="1400" dirty="0">
                <a:solidFill>
                  <a:srgbClr val="333333"/>
                </a:solidFill>
              </a:rPr>
              <a:t>peristaltic enzyme pump, buffer pump, analog pH probe</a:t>
            </a:r>
          </a:p>
          <a:p>
            <a:pPr marL="228600" indent="-228600" algn="l">
              <a:lnSpc>
                <a:spcPct val="100000"/>
              </a:lnSpc>
              <a:spcBef>
                <a:spcPts val="1000"/>
              </a:spcBef>
              <a:spcAft>
                <a:spcPts val="0"/>
              </a:spcAft>
              <a:buFont typeface="Arial"/>
              <a:buChar char="•"/>
            </a:pPr>
            <a:r>
              <a:rPr lang="en-US" sz="1400" b="1" dirty="0">
                <a:solidFill>
                  <a:srgbClr val="253C6D"/>
                </a:solidFill>
              </a:rPr>
              <a:t>Power and safety: </a:t>
            </a:r>
            <a:r>
              <a:rPr lang="en-US" sz="1400" dirty="0">
                <a:solidFill>
                  <a:srgbClr val="333333"/>
                </a:solidFill>
              </a:rPr>
              <a:t>12 V adapter, LM2596 buck converter to 5 V, MOSFET switches, buzzer, watchdog, emergency stop</a:t>
            </a:r>
          </a:p>
          <a:p>
            <a:pPr marL="228600" indent="-228600" algn="l">
              <a:lnSpc>
                <a:spcPct val="100000"/>
              </a:lnSpc>
              <a:spcBef>
                <a:spcPts val="1000"/>
              </a:spcBef>
              <a:spcAft>
                <a:spcPts val="0"/>
              </a:spcAft>
              <a:buFont typeface="Arial"/>
              <a:buChar char="•"/>
            </a:pPr>
            <a:r>
              <a:rPr lang="en-US" sz="1400" b="1" dirty="0">
                <a:solidFill>
                  <a:srgbClr val="253C6D"/>
                </a:solidFill>
              </a:rPr>
              <a:t>Software: </a:t>
            </a:r>
            <a:r>
              <a:rPr lang="en-US" sz="1400" dirty="0">
                <a:solidFill>
                  <a:srgbClr val="333333"/>
                </a:solidFill>
              </a:rPr>
              <a:t>open-source ESP32 firmware and a browser web portal talking over Wi-Fi / JSON</a:t>
            </a:r>
          </a:p>
        </p:txBody>
      </p:sp>
      <p:sp>
        <p:nvSpPr>
          <p:cNvPr id="105" name="Methodology heading"/>
          <p:cNvSpPr txBox="1"/>
          <p:nvPr/>
        </p:nvSpPr>
        <p:spPr>
          <a:xfrm>
            <a:off x="5908560" y="1333497"/>
            <a:ext cx="5911440" cy="380000"/>
          </a:xfrm>
          <a:prstGeom prst="rect">
            <a:avLst/>
          </a:prstGeom>
          <a:noFill/>
          <a:ln>
            <a:noFill/>
          </a:ln>
        </p:spPr>
        <p:txBody>
          <a:bodyPr wrap="square" lIns="91440" tIns="45720" rIns="91440" bIns="45720" anchor="t">
            <a:noAutofit/>
          </a:bodyPr>
          <a:lstStyle/>
          <a:p>
            <a:pPr marL="0" indent="0" algn="l">
              <a:lnSpc>
                <a:spcPct val="100000"/>
              </a:lnSpc>
              <a:spcBef>
                <a:spcPts val="0"/>
              </a:spcBef>
              <a:spcAft>
                <a:spcPts val="0"/>
              </a:spcAft>
              <a:buNone/>
            </a:pPr>
            <a:r>
              <a:rPr lang="en-US" sz="1500" b="1" dirty="0">
                <a:solidFill>
                  <a:srgbClr val="253C6D"/>
                </a:solidFill>
              </a:rPr>
              <a:t>Methodology and process for implementation</a:t>
            </a:r>
          </a:p>
        </p:txBody>
      </p:sp>
      <p:sp>
        <p:nvSpPr>
          <p:cNvPr id="106" name="Flow step 1"/>
          <p:cNvSpPr/>
          <p:nvPr/>
        </p:nvSpPr>
        <p:spPr>
          <a:xfrm>
            <a:off x="6000000" y="1800000"/>
            <a:ext cx="1290000" cy="1150000"/>
          </a:xfrm>
          <a:prstGeom prst="roundRect">
            <a:avLst>
              <a:gd name="adj" fmla="val 8000"/>
            </a:avLst>
          </a:prstGeom>
          <a:solidFill>
            <a:srgbClr val="253C6D"/>
          </a:solidFill>
          <a:ln>
            <a:noFill/>
          </a:ln>
        </p:spPr>
        <p:txBody>
          <a:bodyPr wrap="square" lIns="45720" tIns="45720" rIns="45720" bIns="45720" anchor="ctr">
            <a:noAutofit/>
          </a:bodyPr>
          <a:lstStyle/>
          <a:p>
            <a:pPr marL="0" indent="0" algn="ctr">
              <a:lnSpc>
                <a:spcPct val="100000"/>
              </a:lnSpc>
              <a:spcBef>
                <a:spcPts val="0"/>
              </a:spcBef>
              <a:spcAft>
                <a:spcPts val="0"/>
              </a:spcAft>
              <a:buNone/>
            </a:pPr>
            <a:r>
              <a:rPr lang="en-US" sz="1200" b="1" dirty="0">
                <a:solidFill>
                  <a:srgbClr val="FFFFFF"/>
                </a:solidFill>
              </a:rPr>
              <a:t>1. SENSE</a:t>
            </a:r>
          </a:p>
          <a:p>
            <a:pPr marL="0" indent="0" algn="ctr">
              <a:lnSpc>
                <a:spcPct val="100000"/>
              </a:lnSpc>
              <a:spcBef>
                <a:spcPts val="300"/>
              </a:spcBef>
              <a:spcAft>
                <a:spcPts val="0"/>
              </a:spcAft>
              <a:buNone/>
            </a:pPr>
            <a:r>
              <a:rPr lang="en-US" sz="1200" dirty="0">
                <a:solidFill>
                  <a:srgbClr val="FFFFFF"/>
                </a:solidFill>
              </a:rPr>
              <a:t>Read simulated glucose</a:t>
            </a:r>
          </a:p>
        </p:txBody>
      </p:sp>
      <p:sp>
        <p:nvSpPr>
          <p:cNvPr id="107" name="Flow arrow 1"/>
          <p:cNvSpPr/>
          <p:nvPr/>
        </p:nvSpPr>
        <p:spPr>
          <a:xfrm>
            <a:off x="7300000" y="2300000"/>
            <a:ext cx="200000" cy="250000"/>
          </a:xfrm>
          <a:prstGeom prst="rightArrow">
            <a:avLst/>
          </a:prstGeom>
          <a:solidFill>
            <a:srgbClr val="F2842F"/>
          </a:solidFill>
          <a:ln>
            <a:noFill/>
          </a:ln>
        </p:spPr>
        <p:txBody>
          <a:bodyPr/>
          <a:lstStyle/>
          <a:p>
            <a:endParaRPr lang="en-US"/>
          </a:p>
        </p:txBody>
      </p:sp>
      <p:sp>
        <p:nvSpPr>
          <p:cNvPr id="108" name="Flow step 2"/>
          <p:cNvSpPr/>
          <p:nvPr/>
        </p:nvSpPr>
        <p:spPr>
          <a:xfrm>
            <a:off x="7510000" y="1800000"/>
            <a:ext cx="1290000" cy="1150000"/>
          </a:xfrm>
          <a:prstGeom prst="roundRect">
            <a:avLst>
              <a:gd name="adj" fmla="val 8000"/>
            </a:avLst>
          </a:prstGeom>
          <a:solidFill>
            <a:srgbClr val="F2842F"/>
          </a:solidFill>
          <a:ln>
            <a:noFill/>
          </a:ln>
        </p:spPr>
        <p:txBody>
          <a:bodyPr wrap="square" lIns="45720" tIns="45720" rIns="45720" bIns="45720" anchor="ctr">
            <a:noAutofit/>
          </a:bodyPr>
          <a:lstStyle/>
          <a:p>
            <a:pPr marL="0" indent="0" algn="ctr">
              <a:lnSpc>
                <a:spcPct val="100000"/>
              </a:lnSpc>
              <a:spcBef>
                <a:spcPts val="0"/>
              </a:spcBef>
              <a:spcAft>
                <a:spcPts val="0"/>
              </a:spcAft>
              <a:buNone/>
            </a:pPr>
            <a:r>
              <a:rPr lang="en-US" sz="1200" b="1" dirty="0">
                <a:solidFill>
                  <a:srgbClr val="FFFFFF"/>
                </a:solidFill>
              </a:rPr>
              <a:t>2. DECIDE</a:t>
            </a:r>
          </a:p>
          <a:p>
            <a:pPr marL="0" indent="0" algn="ctr">
              <a:lnSpc>
                <a:spcPct val="100000"/>
              </a:lnSpc>
              <a:spcBef>
                <a:spcPts val="300"/>
              </a:spcBef>
              <a:spcAft>
                <a:spcPts val="0"/>
              </a:spcAft>
              <a:buNone/>
            </a:pPr>
            <a:r>
              <a:rPr lang="en-US" sz="1200" dirty="0">
                <a:solidFill>
                  <a:srgbClr val="FFFFFF"/>
                </a:solidFill>
              </a:rPr>
              <a:t>Calculate dose, check rules</a:t>
            </a:r>
          </a:p>
        </p:txBody>
      </p:sp>
      <p:sp>
        <p:nvSpPr>
          <p:cNvPr id="109" name="Flow arrow 2"/>
          <p:cNvSpPr/>
          <p:nvPr/>
        </p:nvSpPr>
        <p:spPr>
          <a:xfrm>
            <a:off x="8810000" y="2300000"/>
            <a:ext cx="200000" cy="250000"/>
          </a:xfrm>
          <a:prstGeom prst="rightArrow">
            <a:avLst/>
          </a:prstGeom>
          <a:solidFill>
            <a:srgbClr val="253C6D"/>
          </a:solidFill>
          <a:ln>
            <a:noFill/>
          </a:ln>
        </p:spPr>
        <p:txBody>
          <a:bodyPr/>
          <a:lstStyle/>
          <a:p>
            <a:endParaRPr lang="en-US"/>
          </a:p>
        </p:txBody>
      </p:sp>
      <p:sp>
        <p:nvSpPr>
          <p:cNvPr id="110" name="Flow step 3"/>
          <p:cNvSpPr/>
          <p:nvPr/>
        </p:nvSpPr>
        <p:spPr>
          <a:xfrm>
            <a:off x="9020000" y="1800000"/>
            <a:ext cx="1290000" cy="1150000"/>
          </a:xfrm>
          <a:prstGeom prst="roundRect">
            <a:avLst>
              <a:gd name="adj" fmla="val 8000"/>
            </a:avLst>
          </a:prstGeom>
          <a:solidFill>
            <a:srgbClr val="253C6D"/>
          </a:solidFill>
          <a:ln>
            <a:noFill/>
          </a:ln>
        </p:spPr>
        <p:txBody>
          <a:bodyPr wrap="square" lIns="45720" tIns="45720" rIns="45720" bIns="45720" anchor="ctr">
            <a:noAutofit/>
          </a:bodyPr>
          <a:lstStyle/>
          <a:p>
            <a:pPr marL="0" indent="0" algn="ctr">
              <a:lnSpc>
                <a:spcPct val="100000"/>
              </a:lnSpc>
              <a:spcBef>
                <a:spcPts val="0"/>
              </a:spcBef>
              <a:spcAft>
                <a:spcPts val="0"/>
              </a:spcAft>
              <a:buNone/>
            </a:pPr>
            <a:r>
              <a:rPr lang="en-US" sz="1200" b="1" dirty="0">
                <a:solidFill>
                  <a:srgbClr val="FFFFFF"/>
                </a:solidFill>
              </a:rPr>
              <a:t>3. ACT</a:t>
            </a:r>
          </a:p>
          <a:p>
            <a:pPr marL="0" indent="0" algn="ctr">
              <a:lnSpc>
                <a:spcPct val="100000"/>
              </a:lnSpc>
              <a:spcBef>
                <a:spcPts val="300"/>
              </a:spcBef>
              <a:spcAft>
                <a:spcPts val="0"/>
              </a:spcAft>
              <a:buNone/>
            </a:pPr>
            <a:r>
              <a:rPr lang="en-US" sz="1200" dirty="0">
                <a:solidFill>
                  <a:srgbClr val="FFFFFF"/>
                </a:solidFill>
              </a:rPr>
              <a:t>Pump delivers dose</a:t>
            </a:r>
          </a:p>
        </p:txBody>
      </p:sp>
      <p:sp>
        <p:nvSpPr>
          <p:cNvPr id="111" name="Flow arrow 3"/>
          <p:cNvSpPr/>
          <p:nvPr/>
        </p:nvSpPr>
        <p:spPr>
          <a:xfrm>
            <a:off x="10320000" y="2300000"/>
            <a:ext cx="200000" cy="250000"/>
          </a:xfrm>
          <a:prstGeom prst="rightArrow">
            <a:avLst/>
          </a:prstGeom>
          <a:solidFill>
            <a:srgbClr val="F2842F"/>
          </a:solidFill>
          <a:ln>
            <a:noFill/>
          </a:ln>
        </p:spPr>
        <p:txBody>
          <a:bodyPr/>
          <a:lstStyle/>
          <a:p>
            <a:endParaRPr lang="en-US"/>
          </a:p>
        </p:txBody>
      </p:sp>
      <p:sp>
        <p:nvSpPr>
          <p:cNvPr id="112" name="Flow step 4"/>
          <p:cNvSpPr/>
          <p:nvPr/>
        </p:nvSpPr>
        <p:spPr>
          <a:xfrm>
            <a:off x="10530000" y="1800000"/>
            <a:ext cx="1290000" cy="1150000"/>
          </a:xfrm>
          <a:prstGeom prst="roundRect">
            <a:avLst>
              <a:gd name="adj" fmla="val 8000"/>
            </a:avLst>
          </a:prstGeom>
          <a:solidFill>
            <a:srgbClr val="F2842F"/>
          </a:solidFill>
          <a:ln>
            <a:noFill/>
          </a:ln>
        </p:spPr>
        <p:txBody>
          <a:bodyPr wrap="square" lIns="45720" tIns="45720" rIns="45720" bIns="45720" anchor="ctr">
            <a:noAutofit/>
          </a:bodyPr>
          <a:lstStyle/>
          <a:p>
            <a:pPr marL="0" indent="0" algn="ctr">
              <a:lnSpc>
                <a:spcPct val="100000"/>
              </a:lnSpc>
              <a:spcBef>
                <a:spcPts val="0"/>
              </a:spcBef>
              <a:spcAft>
                <a:spcPts val="0"/>
              </a:spcAft>
              <a:buNone/>
            </a:pPr>
            <a:r>
              <a:rPr lang="en-US" sz="1200" b="1" dirty="0">
                <a:solidFill>
                  <a:srgbClr val="FFFFFF"/>
                </a:solidFill>
              </a:rPr>
              <a:t>4. FEEDBACK</a:t>
            </a:r>
          </a:p>
          <a:p>
            <a:pPr marL="0" indent="0" algn="ctr">
              <a:lnSpc>
                <a:spcPct val="100000"/>
              </a:lnSpc>
              <a:spcBef>
                <a:spcPts val="300"/>
              </a:spcBef>
              <a:spcAft>
                <a:spcPts val="0"/>
              </a:spcAft>
              <a:buNone/>
            </a:pPr>
            <a:r>
              <a:rPr lang="en-US" sz="1200" dirty="0">
                <a:solidFill>
                  <a:srgbClr val="FFFFFF"/>
                </a:solidFill>
              </a:rPr>
              <a:t>Glucose changes</a:t>
            </a:r>
          </a:p>
        </p:txBody>
      </p:sp>
      <p:sp>
        <p:nvSpPr>
          <p:cNvPr id="113" name="Architecture 1"/>
          <p:cNvSpPr/>
          <p:nvPr/>
        </p:nvSpPr>
        <p:spPr>
          <a:xfrm>
            <a:off x="6000000" y="3200000"/>
            <a:ext cx="1750000" cy="800000"/>
          </a:xfrm>
          <a:prstGeom prst="roundRect">
            <a:avLst>
              <a:gd name="adj" fmla="val 8000"/>
            </a:avLst>
          </a:prstGeom>
          <a:solidFill>
            <a:srgbClr val="EEF2F9"/>
          </a:solidFill>
          <a:ln w="9525">
            <a:solidFill>
              <a:srgbClr val="C9D1E0"/>
            </a:solidFill>
          </a:ln>
        </p:spPr>
        <p:txBody>
          <a:bodyPr wrap="square" lIns="45720" tIns="45720" rIns="45720" bIns="45720" anchor="ctr">
            <a:noAutofit/>
          </a:bodyPr>
          <a:lstStyle/>
          <a:p>
            <a:pPr marL="0" indent="0" algn="ctr">
              <a:lnSpc>
                <a:spcPct val="100000"/>
              </a:lnSpc>
              <a:spcBef>
                <a:spcPts val="0"/>
              </a:spcBef>
              <a:spcAft>
                <a:spcPts val="0"/>
              </a:spcAft>
              <a:buNone/>
            </a:pPr>
            <a:r>
              <a:rPr lang="en-US" sz="1200" b="1" dirty="0">
                <a:solidFill>
                  <a:srgbClr val="253C6D"/>
                </a:solidFill>
              </a:rPr>
              <a:t>Web portal (phone / laptop)</a:t>
            </a:r>
          </a:p>
        </p:txBody>
      </p:sp>
      <p:sp>
        <p:nvSpPr>
          <p:cNvPr id="114" name="Architecture arrow 1"/>
          <p:cNvSpPr/>
          <p:nvPr/>
        </p:nvSpPr>
        <p:spPr>
          <a:xfrm>
            <a:off x="7775000" y="3475000"/>
            <a:ext cx="235000" cy="250000"/>
          </a:xfrm>
          <a:prstGeom prst="rightArrow">
            <a:avLst/>
          </a:prstGeom>
          <a:solidFill>
            <a:srgbClr val="253C6D"/>
          </a:solidFill>
          <a:ln>
            <a:noFill/>
          </a:ln>
        </p:spPr>
        <p:txBody>
          <a:bodyPr/>
          <a:lstStyle/>
          <a:p>
            <a:endParaRPr lang="en-US"/>
          </a:p>
        </p:txBody>
      </p:sp>
      <p:sp>
        <p:nvSpPr>
          <p:cNvPr id="115" name="Architecture 2"/>
          <p:cNvSpPr/>
          <p:nvPr/>
        </p:nvSpPr>
        <p:spPr>
          <a:xfrm>
            <a:off x="8035000" y="3200000"/>
            <a:ext cx="1750000" cy="800000"/>
          </a:xfrm>
          <a:prstGeom prst="roundRect">
            <a:avLst>
              <a:gd name="adj" fmla="val 8000"/>
            </a:avLst>
          </a:prstGeom>
          <a:solidFill>
            <a:srgbClr val="EEF2F9"/>
          </a:solidFill>
          <a:ln w="9525">
            <a:solidFill>
              <a:srgbClr val="C9D1E0"/>
            </a:solidFill>
          </a:ln>
        </p:spPr>
        <p:txBody>
          <a:bodyPr wrap="square" lIns="45720" tIns="45720" rIns="45720" bIns="45720" anchor="ctr">
            <a:noAutofit/>
          </a:bodyPr>
          <a:lstStyle/>
          <a:p>
            <a:pPr marL="0" indent="0" algn="ctr">
              <a:lnSpc>
                <a:spcPct val="100000"/>
              </a:lnSpc>
              <a:spcBef>
                <a:spcPts val="0"/>
              </a:spcBef>
              <a:spcAft>
                <a:spcPts val="0"/>
              </a:spcAft>
              <a:buNone/>
            </a:pPr>
            <a:r>
              <a:rPr lang="en-US" sz="1200" b="1" dirty="0">
                <a:solidFill>
                  <a:srgbClr val="253C6D"/>
                </a:solidFill>
              </a:rPr>
              <a:t>ESP32 control + safety</a:t>
            </a:r>
          </a:p>
        </p:txBody>
      </p:sp>
      <p:sp>
        <p:nvSpPr>
          <p:cNvPr id="116" name="Architecture arrow 2"/>
          <p:cNvSpPr/>
          <p:nvPr/>
        </p:nvSpPr>
        <p:spPr>
          <a:xfrm>
            <a:off x="9810000" y="3475000"/>
            <a:ext cx="235000" cy="250000"/>
          </a:xfrm>
          <a:prstGeom prst="rightArrow">
            <a:avLst/>
          </a:prstGeom>
          <a:solidFill>
            <a:srgbClr val="253C6D"/>
          </a:solidFill>
          <a:ln>
            <a:noFill/>
          </a:ln>
        </p:spPr>
        <p:txBody>
          <a:bodyPr/>
          <a:lstStyle/>
          <a:p>
            <a:endParaRPr lang="en-US"/>
          </a:p>
        </p:txBody>
      </p:sp>
      <p:sp>
        <p:nvSpPr>
          <p:cNvPr id="117" name="Architecture 3"/>
          <p:cNvSpPr/>
          <p:nvPr/>
        </p:nvSpPr>
        <p:spPr>
          <a:xfrm>
            <a:off x="10070000" y="3200000"/>
            <a:ext cx="1750000" cy="800000"/>
          </a:xfrm>
          <a:prstGeom prst="roundRect">
            <a:avLst>
              <a:gd name="adj" fmla="val 8000"/>
            </a:avLst>
          </a:prstGeom>
          <a:solidFill>
            <a:srgbClr val="EEF2F9"/>
          </a:solidFill>
          <a:ln w="9525">
            <a:solidFill>
              <a:srgbClr val="C9D1E0"/>
            </a:solidFill>
          </a:ln>
        </p:spPr>
        <p:txBody>
          <a:bodyPr wrap="square" lIns="45720" tIns="45720" rIns="45720" bIns="45720" anchor="ctr">
            <a:noAutofit/>
          </a:bodyPr>
          <a:lstStyle/>
          <a:p>
            <a:pPr marL="0" indent="0" algn="ctr">
              <a:lnSpc>
                <a:spcPct val="100000"/>
              </a:lnSpc>
              <a:spcBef>
                <a:spcPts val="0"/>
              </a:spcBef>
              <a:spcAft>
                <a:spcPts val="0"/>
              </a:spcAft>
              <a:buNone/>
            </a:pPr>
            <a:r>
              <a:rPr lang="en-US" sz="1200" b="1" dirty="0">
                <a:solidFill>
                  <a:srgbClr val="253C6D"/>
                </a:solidFill>
              </a:rPr>
              <a:t>Pumps + pH probe</a:t>
            </a:r>
          </a:p>
        </p:txBody>
      </p:sp>
      <p:sp>
        <p:nvSpPr>
          <p:cNvPr id="118" name="Dose logic and safety"/>
          <p:cNvSpPr/>
          <p:nvPr/>
        </p:nvSpPr>
        <p:spPr>
          <a:xfrm>
            <a:off x="5908560" y="4200000"/>
            <a:ext cx="5911440" cy="1550000"/>
          </a:xfrm>
          <a:prstGeom prst="roundRect">
            <a:avLst>
              <a:gd name="adj" fmla="val 8000"/>
            </a:avLst>
          </a:prstGeom>
          <a:solidFill>
            <a:srgbClr val="FEF1E6"/>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1200" b="1" dirty="0">
                <a:solidFill>
                  <a:srgbClr val="253C6D"/>
                </a:solidFill>
              </a:rPr>
              <a:t>Bolus calculator: </a:t>
            </a:r>
            <a:r>
              <a:rPr lang="en-US" sz="1200" dirty="0">
                <a:solidFill>
                  <a:srgbClr val="333333"/>
                </a:solidFill>
              </a:rPr>
              <a:t>Dose = carbs / ratio + (glucose - target) / correction - insulin on board. Example: 60 g, ratio 10, glucose 110 gives 6.0 U.</a:t>
            </a:r>
          </a:p>
          <a:p>
            <a:pPr marL="0" indent="0" algn="l">
              <a:lnSpc>
                <a:spcPct val="100000"/>
              </a:lnSpc>
              <a:spcBef>
                <a:spcPts val="600"/>
              </a:spcBef>
              <a:spcAft>
                <a:spcPts val="0"/>
              </a:spcAft>
              <a:buNone/>
            </a:pPr>
            <a:r>
              <a:rPr lang="en-US" sz="1200" b="1" dirty="0">
                <a:solidFill>
                  <a:srgbClr val="F2842F"/>
                </a:solidFill>
              </a:rPr>
              <a:t>Safety rules: </a:t>
            </a:r>
            <a:r>
              <a:rPr lang="en-US" sz="1200" dirty="0">
                <a:solidFill>
                  <a:srgbClr val="333333"/>
                </a:solidFill>
              </a:rPr>
              <a:t>maximum bolus, lockout time, suspend below 80 mg/dL, small doses only in auto mode, emergency stop and watchdog reset.</a:t>
            </a:r>
          </a:p>
        </p:txBody>
      </p:sp>
    </p:spTree>
    <p:extLst>
      <p:ext uri="{BB962C8B-B14F-4D97-AF65-F5344CB8AC3E}">
        <p14:creationId xmlns:p14="http://schemas.microsoft.com/office/powerpoint/2010/main" val="2032228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8DB02-F265-94FF-6DDE-A3106183B8B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965A3FB-D8C6-A614-A208-A0FE6209084E}"/>
              </a:ext>
            </a:extLst>
          </p:cNvPr>
          <p:cNvSpPr>
            <a:spLocks noGrp="1"/>
          </p:cNvSpPr>
          <p:nvPr>
            <p:ph type="title"/>
          </p:nvPr>
        </p:nvSpPr>
        <p:spPr>
          <a:xfrm>
            <a:off x="371476" y="404813"/>
            <a:ext cx="10474104" cy="574656"/>
          </a:xfrm>
        </p:spPr>
        <p:txBody>
          <a:bodyPr>
            <a:normAutofit/>
          </a:bodyPr>
          <a:lstStyle/>
          <a:p>
            <a:r>
              <a:rPr lang="en-US" dirty="0"/>
              <a:t>FEASIBILITY AND VIABILITY</a:t>
            </a:r>
          </a:p>
        </p:txBody>
      </p:sp>
      <p:sp>
        <p:nvSpPr>
          <p:cNvPr id="9" name="Slide Number Placeholder 8">
            <a:extLst>
              <a:ext uri="{FF2B5EF4-FFF2-40B4-BE49-F238E27FC236}">
                <a16:creationId xmlns:a16="http://schemas.microsoft.com/office/drawing/2014/main" id="{C90CF34F-0E06-32B0-3C1C-5F1056DA4D61}"/>
              </a:ext>
            </a:extLst>
          </p:cNvPr>
          <p:cNvSpPr>
            <a:spLocks noGrp="1"/>
          </p:cNvSpPr>
          <p:nvPr>
            <p:ph type="sldNum" sz="quarter" idx="4"/>
          </p:nvPr>
        </p:nvSpPr>
        <p:spPr>
          <a:xfrm>
            <a:off x="8610600" y="6356350"/>
            <a:ext cx="3209924" cy="365125"/>
          </a:xfrm>
        </p:spPr>
        <p:txBody>
          <a:bodyPr/>
          <a:lstStyle/>
          <a:p>
            <a:fld id="{A6FCFE0C-FD5A-4524-A8B1-CEC4446D43C3}" type="slidenum">
              <a:rPr lang="en-US" smtClean="0"/>
              <a:pPr/>
              <a:t>4</a:t>
            </a:fld>
            <a:endParaRPr lang="en-US" dirty="0"/>
          </a:p>
        </p:txBody>
      </p:sp>
      <p:sp>
        <p:nvSpPr>
          <p:cNvPr id="119" name="Feasibility heading"/>
          <p:cNvSpPr txBox="1"/>
          <p:nvPr/>
        </p:nvSpPr>
        <p:spPr>
          <a:xfrm>
            <a:off x="280035" y="1333497"/>
            <a:ext cx="5000000" cy="380000"/>
          </a:xfrm>
          <a:prstGeom prst="rect">
            <a:avLst/>
          </a:prstGeom>
          <a:noFill/>
          <a:ln>
            <a:noFill/>
          </a:ln>
        </p:spPr>
        <p:txBody>
          <a:bodyPr wrap="square" lIns="91440" tIns="45720" rIns="91440" bIns="45720" anchor="t">
            <a:noAutofit/>
          </a:bodyPr>
          <a:lstStyle/>
          <a:p>
            <a:pPr marL="0" indent="0" algn="l">
              <a:lnSpc>
                <a:spcPct val="100000"/>
              </a:lnSpc>
              <a:spcBef>
                <a:spcPts val="0"/>
              </a:spcBef>
              <a:spcAft>
                <a:spcPts val="0"/>
              </a:spcAft>
              <a:buNone/>
            </a:pPr>
            <a:r>
              <a:rPr lang="en-US" sz="1500" b="1" dirty="0">
                <a:solidFill>
                  <a:srgbClr val="253C6D"/>
                </a:solidFill>
              </a:rPr>
              <a:t>Analysis of the feasibility of the idea</a:t>
            </a:r>
          </a:p>
        </p:txBody>
      </p:sp>
      <p:graphicFrame>
        <p:nvGraphicFramePr>
          <p:cNvPr id="120" name="Feasibility table"/>
          <p:cNvGraphicFramePr>
            <a:graphicFrameLocks noGrp="1"/>
          </p:cNvGraphicFramePr>
          <p:nvPr/>
        </p:nvGraphicFramePr>
        <p:xfrm>
          <a:off x="371475" y="1750000"/>
          <a:ext cx="4900000" cy="3280000"/>
        </p:xfrm>
        <a:graphic>
          <a:graphicData uri="http://schemas.openxmlformats.org/drawingml/2006/table">
            <a:tbl>
              <a:tblPr firstRow="1" bandRow="1"/>
              <a:tblGrid>
                <a:gridCol w="3000000">
                  <a:extLst>
                    <a:ext uri="{9D8B030D-6E8A-4147-A177-3AD203B41FA5}">
                      <a16:colId xmlns:a16="http://schemas.microsoft.com/office/drawing/2014/main" val="20000"/>
                    </a:ext>
                  </a:extLst>
                </a:gridCol>
                <a:gridCol w="1900000">
                  <a:extLst>
                    <a:ext uri="{9D8B030D-6E8A-4147-A177-3AD203B41FA5}">
                      <a16:colId xmlns:a16="http://schemas.microsoft.com/office/drawing/2014/main" val="20001"/>
                    </a:ext>
                  </a:extLst>
                </a:gridCol>
              </a:tblGrid>
              <a:tr h="400000">
                <a:tc>
                  <a:txBody>
                    <a:bodyPr/>
                    <a:lstStyle/>
                    <a:p>
                      <a:pPr marL="0" indent="0" algn="l">
                        <a:lnSpc>
                          <a:spcPct val="100000"/>
                        </a:lnSpc>
                        <a:spcBef>
                          <a:spcPts val="0"/>
                        </a:spcBef>
                        <a:spcAft>
                          <a:spcPts val="0"/>
                        </a:spcAft>
                        <a:buNone/>
                      </a:pPr>
                      <a:r>
                        <a:rPr lang="en-US" sz="1200" b="1" dirty="0">
                          <a:solidFill>
                            <a:srgbClr val="FFFFFF"/>
                          </a:solidFill>
                        </a:rPr>
                        <a:t>Component</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253C6D"/>
                    </a:solidFill>
                  </a:tcPr>
                </a:tc>
                <a:tc>
                  <a:txBody>
                    <a:bodyPr/>
                    <a:lstStyle/>
                    <a:p>
                      <a:pPr marL="0" indent="0" algn="l">
                        <a:lnSpc>
                          <a:spcPct val="100000"/>
                        </a:lnSpc>
                        <a:spcBef>
                          <a:spcPts val="0"/>
                        </a:spcBef>
                        <a:spcAft>
                          <a:spcPts val="0"/>
                        </a:spcAft>
                        <a:buNone/>
                      </a:pPr>
                      <a:r>
                        <a:rPr lang="en-US" sz="1200" b="1" dirty="0">
                          <a:solidFill>
                            <a:srgbClr val="FFFFFF"/>
                          </a:solidFill>
                        </a:rPr>
                        <a:t>Feasibility</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253C6D"/>
                    </a:solidFill>
                  </a:tcPr>
                </a:tc>
                <a:extLst>
                  <a:ext uri="{0D108BD9-81ED-4DB2-BD59-A6C34878D82A}">
                    <a16:rowId xmlns:a16="http://schemas.microsoft.com/office/drawing/2014/main" val="10000"/>
                  </a:ext>
                </a:extLst>
              </a:tr>
              <a:tr h="480000">
                <a:tc>
                  <a:txBody>
                    <a:bodyPr/>
                    <a:lstStyle/>
                    <a:p>
                      <a:pPr marL="0" indent="0" algn="l">
                        <a:lnSpc>
                          <a:spcPct val="100000"/>
                        </a:lnSpc>
                        <a:spcBef>
                          <a:spcPts val="0"/>
                        </a:spcBef>
                        <a:spcAft>
                          <a:spcPts val="0"/>
                        </a:spcAft>
                        <a:buNone/>
                      </a:pPr>
                      <a:r>
                        <a:rPr lang="en-US" sz="1200" b="1" dirty="0">
                          <a:solidFill>
                            <a:srgbClr val="333333"/>
                          </a:solidFill>
                        </a:rPr>
                        <a:t>Closed-loop control (simulation)</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tc>
                  <a:txBody>
                    <a:bodyPr/>
                    <a:lstStyle/>
                    <a:p>
                      <a:pPr marL="0" indent="0" algn="l">
                        <a:lnSpc>
                          <a:spcPct val="100000"/>
                        </a:lnSpc>
                        <a:spcBef>
                          <a:spcPts val="0"/>
                        </a:spcBef>
                        <a:spcAft>
                          <a:spcPts val="0"/>
                        </a:spcAft>
                        <a:buNone/>
                      </a:pPr>
                      <a:r>
                        <a:rPr lang="en-US" sz="1200" b="1" dirty="0">
                          <a:solidFill>
                            <a:srgbClr val="2E7D32"/>
                          </a:solidFill>
                        </a:rPr>
                        <a:t>High</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extLst>
                  <a:ext uri="{0D108BD9-81ED-4DB2-BD59-A6C34878D82A}">
                    <a16:rowId xmlns:a16="http://schemas.microsoft.com/office/drawing/2014/main" val="10001"/>
                  </a:ext>
                </a:extLst>
              </a:tr>
              <a:tr h="480000">
                <a:tc>
                  <a:txBody>
                    <a:bodyPr/>
                    <a:lstStyle/>
                    <a:p>
                      <a:pPr marL="0" indent="0" algn="l">
                        <a:lnSpc>
                          <a:spcPct val="100000"/>
                        </a:lnSpc>
                        <a:spcBef>
                          <a:spcPts val="0"/>
                        </a:spcBef>
                        <a:spcAft>
                          <a:spcPts val="0"/>
                        </a:spcAft>
                        <a:buNone/>
                      </a:pPr>
                      <a:r>
                        <a:rPr lang="en-US" sz="1200" b="1" dirty="0">
                          <a:solidFill>
                            <a:srgbClr val="333333"/>
                          </a:solidFill>
                        </a:rPr>
                        <a:t>Syringe pump dosing</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tc>
                  <a:txBody>
                    <a:bodyPr/>
                    <a:lstStyle/>
                    <a:p>
                      <a:pPr marL="0" indent="0" algn="l">
                        <a:lnSpc>
                          <a:spcPct val="100000"/>
                        </a:lnSpc>
                        <a:spcBef>
                          <a:spcPts val="0"/>
                        </a:spcBef>
                        <a:spcAft>
                          <a:spcPts val="0"/>
                        </a:spcAft>
                        <a:buNone/>
                      </a:pPr>
                      <a:r>
                        <a:rPr lang="en-US" sz="1200" b="1" dirty="0">
                          <a:solidFill>
                            <a:srgbClr val="2E7D32"/>
                          </a:solidFill>
                        </a:rPr>
                        <a:t>High</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extLst>
                  <a:ext uri="{0D108BD9-81ED-4DB2-BD59-A6C34878D82A}">
                    <a16:rowId xmlns:a16="http://schemas.microsoft.com/office/drawing/2014/main" val="10002"/>
                  </a:ext>
                </a:extLst>
              </a:tr>
              <a:tr h="480000">
                <a:tc>
                  <a:txBody>
                    <a:bodyPr/>
                    <a:lstStyle/>
                    <a:p>
                      <a:pPr marL="0" indent="0" algn="l">
                        <a:lnSpc>
                          <a:spcPct val="100000"/>
                        </a:lnSpc>
                        <a:spcBef>
                          <a:spcPts val="0"/>
                        </a:spcBef>
                        <a:spcAft>
                          <a:spcPts val="0"/>
                        </a:spcAft>
                        <a:buNone/>
                      </a:pPr>
                      <a:r>
                        <a:rPr lang="en-US" sz="1200" b="1" dirty="0">
                          <a:solidFill>
                            <a:srgbClr val="333333"/>
                          </a:solidFill>
                        </a:rPr>
                        <a:t>Web portal (patient + doctor)</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tc>
                  <a:txBody>
                    <a:bodyPr/>
                    <a:lstStyle/>
                    <a:p>
                      <a:pPr marL="0" indent="0" algn="l">
                        <a:lnSpc>
                          <a:spcPct val="100000"/>
                        </a:lnSpc>
                        <a:spcBef>
                          <a:spcPts val="0"/>
                        </a:spcBef>
                        <a:spcAft>
                          <a:spcPts val="0"/>
                        </a:spcAft>
                        <a:buNone/>
                      </a:pPr>
                      <a:r>
                        <a:rPr lang="en-US" sz="1200" b="1" dirty="0">
                          <a:solidFill>
                            <a:srgbClr val="2E7D32"/>
                          </a:solidFill>
                        </a:rPr>
                        <a:t>High</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extLst>
                  <a:ext uri="{0D108BD9-81ED-4DB2-BD59-A6C34878D82A}">
                    <a16:rowId xmlns:a16="http://schemas.microsoft.com/office/drawing/2014/main" val="10003"/>
                  </a:ext>
                </a:extLst>
              </a:tr>
              <a:tr h="480000">
                <a:tc>
                  <a:txBody>
                    <a:bodyPr/>
                    <a:lstStyle/>
                    <a:p>
                      <a:pPr marL="0" indent="0" algn="l">
                        <a:lnSpc>
                          <a:spcPct val="100000"/>
                        </a:lnSpc>
                        <a:spcBef>
                          <a:spcPts val="0"/>
                        </a:spcBef>
                        <a:spcAft>
                          <a:spcPts val="0"/>
                        </a:spcAft>
                        <a:buNone/>
                      </a:pPr>
                      <a:r>
                        <a:rPr lang="en-US" sz="1200" b="1" dirty="0">
                          <a:solidFill>
                            <a:srgbClr val="333333"/>
                          </a:solidFill>
                        </a:rPr>
                        <a:t>Enzyme + buffer with pH feedback</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tc>
                  <a:txBody>
                    <a:bodyPr/>
                    <a:lstStyle/>
                    <a:p>
                      <a:pPr marL="0" indent="0" algn="l">
                        <a:lnSpc>
                          <a:spcPct val="100000"/>
                        </a:lnSpc>
                        <a:spcBef>
                          <a:spcPts val="0"/>
                        </a:spcBef>
                        <a:spcAft>
                          <a:spcPts val="0"/>
                        </a:spcAft>
                        <a:buNone/>
                      </a:pPr>
                      <a:r>
                        <a:rPr lang="en-US" sz="1200" b="1" dirty="0">
                          <a:solidFill>
                            <a:srgbClr val="F2842F"/>
                          </a:solidFill>
                        </a:rPr>
                        <a:t>Medium</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extLst>
                  <a:ext uri="{0D108BD9-81ED-4DB2-BD59-A6C34878D82A}">
                    <a16:rowId xmlns:a16="http://schemas.microsoft.com/office/drawing/2014/main" val="10004"/>
                  </a:ext>
                </a:extLst>
              </a:tr>
              <a:tr h="480000">
                <a:tc>
                  <a:txBody>
                    <a:bodyPr/>
                    <a:lstStyle/>
                    <a:p>
                      <a:pPr marL="0" indent="0" algn="l">
                        <a:lnSpc>
                          <a:spcPct val="100000"/>
                        </a:lnSpc>
                        <a:spcBef>
                          <a:spcPts val="0"/>
                        </a:spcBef>
                        <a:spcAft>
                          <a:spcPts val="0"/>
                        </a:spcAft>
                        <a:buNone/>
                      </a:pPr>
                      <a:r>
                        <a:rPr lang="en-US" sz="1200" b="1" dirty="0">
                          <a:solidFill>
                            <a:srgbClr val="333333"/>
                          </a:solidFill>
                        </a:rPr>
                        <a:t>Real glucose sensor input</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tc>
                  <a:txBody>
                    <a:bodyPr/>
                    <a:lstStyle/>
                    <a:p>
                      <a:pPr marL="0" indent="0" algn="l">
                        <a:lnSpc>
                          <a:spcPct val="100000"/>
                        </a:lnSpc>
                        <a:spcBef>
                          <a:spcPts val="0"/>
                        </a:spcBef>
                        <a:spcAft>
                          <a:spcPts val="0"/>
                        </a:spcAft>
                        <a:buNone/>
                      </a:pPr>
                      <a:r>
                        <a:rPr lang="en-US" sz="1200" b="1" dirty="0">
                          <a:solidFill>
                            <a:srgbClr val="C0392B"/>
                          </a:solidFill>
                        </a:rPr>
                        <a:t>Low (for now)</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extLst>
                  <a:ext uri="{0D108BD9-81ED-4DB2-BD59-A6C34878D82A}">
                    <a16:rowId xmlns:a16="http://schemas.microsoft.com/office/drawing/2014/main" val="10005"/>
                  </a:ext>
                </a:extLst>
              </a:tr>
              <a:tr h="480000">
                <a:tc>
                  <a:txBody>
                    <a:bodyPr/>
                    <a:lstStyle/>
                    <a:p>
                      <a:pPr marL="0" indent="0" algn="l">
                        <a:lnSpc>
                          <a:spcPct val="100000"/>
                        </a:lnSpc>
                        <a:spcBef>
                          <a:spcPts val="0"/>
                        </a:spcBef>
                        <a:spcAft>
                          <a:spcPts val="0"/>
                        </a:spcAft>
                        <a:buNone/>
                      </a:pPr>
                      <a:r>
                        <a:rPr lang="en-US" sz="1200" b="1" dirty="0">
                          <a:solidFill>
                            <a:srgbClr val="333333"/>
                          </a:solidFill>
                        </a:rPr>
                        <a:t>Use on a person</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tc>
                  <a:txBody>
                    <a:bodyPr/>
                    <a:lstStyle/>
                    <a:p>
                      <a:pPr marL="0" indent="0" algn="l">
                        <a:lnSpc>
                          <a:spcPct val="100000"/>
                        </a:lnSpc>
                        <a:spcBef>
                          <a:spcPts val="0"/>
                        </a:spcBef>
                        <a:spcAft>
                          <a:spcPts val="0"/>
                        </a:spcAft>
                        <a:buNone/>
                      </a:pPr>
                      <a:r>
                        <a:rPr lang="en-US" sz="1200" b="1" dirty="0">
                          <a:solidFill>
                            <a:srgbClr val="C0392B"/>
                          </a:solidFill>
                        </a:rPr>
                        <a:t>Not feasible</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extLst>
                  <a:ext uri="{0D108BD9-81ED-4DB2-BD59-A6C34878D82A}">
                    <a16:rowId xmlns:a16="http://schemas.microsoft.com/office/drawing/2014/main" val="10006"/>
                  </a:ext>
                </a:extLst>
              </a:tr>
            </a:tbl>
          </a:graphicData>
        </a:graphic>
      </p:graphicFrame>
      <p:sp>
        <p:nvSpPr>
          <p:cNvPr id="121" name="Feasibility verdict"/>
          <p:cNvSpPr/>
          <p:nvPr/>
        </p:nvSpPr>
        <p:spPr>
          <a:xfrm>
            <a:off x="371475" y="5200000"/>
            <a:ext cx="4900000" cy="500000"/>
          </a:xfrm>
          <a:prstGeom prst="roundRect">
            <a:avLst>
              <a:gd name="adj" fmla="val 8000"/>
            </a:avLst>
          </a:prstGeom>
          <a:solidFill>
            <a:srgbClr val="FEF1E6"/>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1200" b="1" dirty="0">
                <a:solidFill>
                  <a:srgbClr val="F2842F"/>
                </a:solidFill>
              </a:rPr>
              <a:t>Verdict: </a:t>
            </a:r>
            <a:r>
              <a:rPr lang="en-US" sz="1200" dirty="0">
                <a:solidFill>
                  <a:srgbClr val="333333"/>
                </a:solidFill>
              </a:rPr>
              <a:t>feasible as a bench model; clinical use is a separate, long path.</a:t>
            </a:r>
          </a:p>
        </p:txBody>
      </p:sp>
      <p:sp>
        <p:nvSpPr>
          <p:cNvPr id="122" name="Risks heading"/>
          <p:cNvSpPr txBox="1"/>
          <p:nvPr/>
        </p:nvSpPr>
        <p:spPr>
          <a:xfrm>
            <a:off x="5650000" y="1333497"/>
            <a:ext cx="6170000" cy="380000"/>
          </a:xfrm>
          <a:prstGeom prst="rect">
            <a:avLst/>
          </a:prstGeom>
          <a:noFill/>
          <a:ln>
            <a:noFill/>
          </a:ln>
        </p:spPr>
        <p:txBody>
          <a:bodyPr wrap="square" lIns="91440" tIns="45720" rIns="91440" bIns="45720" anchor="t">
            <a:noAutofit/>
          </a:bodyPr>
          <a:lstStyle/>
          <a:p>
            <a:pPr marL="0" indent="0" algn="l">
              <a:lnSpc>
                <a:spcPct val="100000"/>
              </a:lnSpc>
              <a:spcBef>
                <a:spcPts val="0"/>
              </a:spcBef>
              <a:spcAft>
                <a:spcPts val="0"/>
              </a:spcAft>
              <a:buNone/>
            </a:pPr>
            <a:r>
              <a:rPr lang="en-US" sz="1500" b="1" dirty="0">
                <a:solidFill>
                  <a:srgbClr val="253C6D"/>
                </a:solidFill>
              </a:rPr>
              <a:t>Potential challenges and risks  &gt;  strategies to overcome</a:t>
            </a:r>
          </a:p>
        </p:txBody>
      </p:sp>
      <p:graphicFrame>
        <p:nvGraphicFramePr>
          <p:cNvPr id="123" name="Risk table"/>
          <p:cNvGraphicFramePr>
            <a:graphicFrameLocks noGrp="1"/>
          </p:cNvGraphicFramePr>
          <p:nvPr/>
        </p:nvGraphicFramePr>
        <p:xfrm>
          <a:off x="5741000" y="1750000"/>
          <a:ext cx="6080000" cy="3800000"/>
        </p:xfrm>
        <a:graphic>
          <a:graphicData uri="http://schemas.openxmlformats.org/drawingml/2006/table">
            <a:tbl>
              <a:tblPr firstRow="1" bandRow="1"/>
              <a:tblGrid>
                <a:gridCol w="2350000">
                  <a:extLst>
                    <a:ext uri="{9D8B030D-6E8A-4147-A177-3AD203B41FA5}">
                      <a16:colId xmlns:a16="http://schemas.microsoft.com/office/drawing/2014/main" val="20000"/>
                    </a:ext>
                  </a:extLst>
                </a:gridCol>
                <a:gridCol w="3730000">
                  <a:extLst>
                    <a:ext uri="{9D8B030D-6E8A-4147-A177-3AD203B41FA5}">
                      <a16:colId xmlns:a16="http://schemas.microsoft.com/office/drawing/2014/main" val="20001"/>
                    </a:ext>
                  </a:extLst>
                </a:gridCol>
              </a:tblGrid>
              <a:tr h="400000">
                <a:tc>
                  <a:txBody>
                    <a:bodyPr/>
                    <a:lstStyle/>
                    <a:p>
                      <a:pPr marL="0" indent="0" algn="l">
                        <a:lnSpc>
                          <a:spcPct val="100000"/>
                        </a:lnSpc>
                        <a:spcBef>
                          <a:spcPts val="0"/>
                        </a:spcBef>
                        <a:spcAft>
                          <a:spcPts val="0"/>
                        </a:spcAft>
                        <a:buNone/>
                      </a:pPr>
                      <a:r>
                        <a:rPr lang="en-US" sz="1200" b="1" dirty="0">
                          <a:solidFill>
                            <a:srgbClr val="FFFFFF"/>
                          </a:solidFill>
                        </a:rPr>
                        <a:t>Challenge / risk</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253C6D"/>
                    </a:solidFill>
                  </a:tcPr>
                </a:tc>
                <a:tc>
                  <a:txBody>
                    <a:bodyPr/>
                    <a:lstStyle/>
                    <a:p>
                      <a:pPr marL="0" indent="0" algn="l">
                        <a:lnSpc>
                          <a:spcPct val="100000"/>
                        </a:lnSpc>
                        <a:spcBef>
                          <a:spcPts val="0"/>
                        </a:spcBef>
                        <a:spcAft>
                          <a:spcPts val="0"/>
                        </a:spcAft>
                        <a:buNone/>
                      </a:pPr>
                      <a:r>
                        <a:rPr lang="en-US" sz="1200" b="1" dirty="0">
                          <a:solidFill>
                            <a:srgbClr val="FFFFFF"/>
                          </a:solidFill>
                        </a:rPr>
                        <a:t>Strategy</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253C6D"/>
                    </a:solidFill>
                  </a:tcPr>
                </a:tc>
                <a:extLst>
                  <a:ext uri="{0D108BD9-81ED-4DB2-BD59-A6C34878D82A}">
                    <a16:rowId xmlns:a16="http://schemas.microsoft.com/office/drawing/2014/main" val="10000"/>
                  </a:ext>
                </a:extLst>
              </a:tr>
              <a:tr h="680000">
                <a:tc>
                  <a:txBody>
                    <a:bodyPr/>
                    <a:lstStyle/>
                    <a:p>
                      <a:pPr marL="0" indent="0" algn="l">
                        <a:lnSpc>
                          <a:spcPct val="100000"/>
                        </a:lnSpc>
                        <a:spcBef>
                          <a:spcPts val="0"/>
                        </a:spcBef>
                        <a:spcAft>
                          <a:spcPts val="0"/>
                        </a:spcAft>
                        <a:buNone/>
                      </a:pPr>
                      <a:r>
                        <a:rPr lang="en-US" sz="1200" b="1" dirty="0">
                          <a:solidFill>
                            <a:srgbClr val="333333"/>
                          </a:solidFill>
                        </a:rPr>
                        <a:t>pH probe drifts</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tc>
                  <a:txBody>
                    <a:bodyPr/>
                    <a:lstStyle/>
                    <a:p>
                      <a:pPr marL="0" indent="0" algn="l">
                        <a:lnSpc>
                          <a:spcPct val="100000"/>
                        </a:lnSpc>
                        <a:spcBef>
                          <a:spcPts val="0"/>
                        </a:spcBef>
                        <a:spcAft>
                          <a:spcPts val="0"/>
                        </a:spcAft>
                        <a:buNone/>
                      </a:pPr>
                      <a:r>
                        <a:rPr lang="en-US" sz="1200" dirty="0">
                          <a:solidFill>
                            <a:srgbClr val="333333"/>
                          </a:solidFill>
                        </a:rPr>
                        <a:t>Recalibrate regularly; buffer pump adds only when pH drops below 6</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extLst>
                  <a:ext uri="{0D108BD9-81ED-4DB2-BD59-A6C34878D82A}">
                    <a16:rowId xmlns:a16="http://schemas.microsoft.com/office/drawing/2014/main" val="10001"/>
                  </a:ext>
                </a:extLst>
              </a:tr>
              <a:tr h="680000">
                <a:tc>
                  <a:txBody>
                    <a:bodyPr/>
                    <a:lstStyle/>
                    <a:p>
                      <a:pPr marL="0" indent="0" algn="l">
                        <a:lnSpc>
                          <a:spcPct val="100000"/>
                        </a:lnSpc>
                        <a:spcBef>
                          <a:spcPts val="0"/>
                        </a:spcBef>
                        <a:spcAft>
                          <a:spcPts val="0"/>
                        </a:spcAft>
                        <a:buNone/>
                      </a:pPr>
                      <a:r>
                        <a:rPr lang="en-US" sz="1200" b="1" dirty="0">
                          <a:solidFill>
                            <a:srgbClr val="333333"/>
                          </a:solidFill>
                        </a:rPr>
                        <a:t>Hobby-grade pump accuracy</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tc>
                  <a:txBody>
                    <a:bodyPr/>
                    <a:lstStyle/>
                    <a:p>
                      <a:pPr marL="0" indent="0" algn="l">
                        <a:lnSpc>
                          <a:spcPct val="100000"/>
                        </a:lnSpc>
                        <a:spcBef>
                          <a:spcPts val="0"/>
                        </a:spcBef>
                        <a:spcAft>
                          <a:spcPts val="0"/>
                        </a:spcAft>
                        <a:buNone/>
                      </a:pPr>
                      <a:r>
                        <a:rPr lang="en-US" sz="1200" dirty="0">
                          <a:solidFill>
                            <a:srgbClr val="333333"/>
                          </a:solidFill>
                        </a:rPr>
                        <a:t>Calibrate by weighing dispensed water; end-stop limit switch</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extLst>
                  <a:ext uri="{0D108BD9-81ED-4DB2-BD59-A6C34878D82A}">
                    <a16:rowId xmlns:a16="http://schemas.microsoft.com/office/drawing/2014/main" val="10002"/>
                  </a:ext>
                </a:extLst>
              </a:tr>
              <a:tr h="680000">
                <a:tc>
                  <a:txBody>
                    <a:bodyPr/>
                    <a:lstStyle/>
                    <a:p>
                      <a:pPr marL="0" indent="0" algn="l">
                        <a:lnSpc>
                          <a:spcPct val="100000"/>
                        </a:lnSpc>
                        <a:spcBef>
                          <a:spcPts val="0"/>
                        </a:spcBef>
                        <a:spcAft>
                          <a:spcPts val="0"/>
                        </a:spcAft>
                        <a:buNone/>
                      </a:pPr>
                      <a:r>
                        <a:rPr lang="en-US" sz="1200" b="1" dirty="0">
                          <a:solidFill>
                            <a:srgbClr val="333333"/>
                          </a:solidFill>
                        </a:rPr>
                        <a:t>No glucagon pump for low-glucose rescue</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tc>
                  <a:txBody>
                    <a:bodyPr/>
                    <a:lstStyle/>
                    <a:p>
                      <a:pPr marL="0" indent="0" algn="l">
                        <a:lnSpc>
                          <a:spcPct val="100000"/>
                        </a:lnSpc>
                        <a:spcBef>
                          <a:spcPts val="0"/>
                        </a:spcBef>
                        <a:spcAft>
                          <a:spcPts val="0"/>
                        </a:spcAft>
                        <a:buNone/>
                      </a:pPr>
                      <a:r>
                        <a:rPr lang="en-US" sz="1200" dirty="0">
                          <a:solidFill>
                            <a:srgbClr val="333333"/>
                          </a:solidFill>
                        </a:rPr>
                        <a:t>Suspend delivery below 80 mg/dL; add a second pump in Phase 2</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extLst>
                  <a:ext uri="{0D108BD9-81ED-4DB2-BD59-A6C34878D82A}">
                    <a16:rowId xmlns:a16="http://schemas.microsoft.com/office/drawing/2014/main" val="10003"/>
                  </a:ext>
                </a:extLst>
              </a:tr>
              <a:tr h="680000">
                <a:tc>
                  <a:txBody>
                    <a:bodyPr/>
                    <a:lstStyle/>
                    <a:p>
                      <a:pPr marL="0" indent="0" algn="l">
                        <a:lnSpc>
                          <a:spcPct val="100000"/>
                        </a:lnSpc>
                        <a:spcBef>
                          <a:spcPts val="0"/>
                        </a:spcBef>
                        <a:spcAft>
                          <a:spcPts val="0"/>
                        </a:spcAft>
                        <a:buNone/>
                      </a:pPr>
                      <a:r>
                        <a:rPr lang="en-US" sz="1200" b="1" dirty="0">
                          <a:solidFill>
                            <a:srgbClr val="333333"/>
                          </a:solidFill>
                        </a:rPr>
                        <a:t>Simulated glucose, simple model, demo PIN</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tc>
                  <a:txBody>
                    <a:bodyPr/>
                    <a:lstStyle/>
                    <a:p>
                      <a:pPr marL="0" indent="0" algn="l">
                        <a:lnSpc>
                          <a:spcPct val="100000"/>
                        </a:lnSpc>
                        <a:spcBef>
                          <a:spcPts val="0"/>
                        </a:spcBef>
                        <a:spcAft>
                          <a:spcPts val="0"/>
                        </a:spcAft>
                        <a:buNone/>
                      </a:pPr>
                      <a:r>
                        <a:rPr lang="en-US" sz="1200" dirty="0">
                          <a:solidFill>
                            <a:srgbClr val="333333"/>
                          </a:solidFill>
                        </a:rPr>
                        <a:t>Use certified sensor / simulator data and secure cloud login later</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FFFFFF"/>
                    </a:solidFill>
                  </a:tcPr>
                </a:tc>
                <a:extLst>
                  <a:ext uri="{0D108BD9-81ED-4DB2-BD59-A6C34878D82A}">
                    <a16:rowId xmlns:a16="http://schemas.microsoft.com/office/drawing/2014/main" val="10004"/>
                  </a:ext>
                </a:extLst>
              </a:tr>
              <a:tr h="680000">
                <a:tc>
                  <a:txBody>
                    <a:bodyPr/>
                    <a:lstStyle/>
                    <a:p>
                      <a:pPr marL="0" indent="0" algn="l">
                        <a:lnSpc>
                          <a:spcPct val="100000"/>
                        </a:lnSpc>
                        <a:spcBef>
                          <a:spcPts val="0"/>
                        </a:spcBef>
                        <a:spcAft>
                          <a:spcPts val="0"/>
                        </a:spcAft>
                        <a:buNone/>
                      </a:pPr>
                      <a:r>
                        <a:rPr lang="en-US" sz="1200" b="1" dirty="0">
                          <a:solidFill>
                            <a:srgbClr val="333333"/>
                          </a:solidFill>
                        </a:rPr>
                        <a:t>Clinical use needs trials and approval</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tc>
                  <a:txBody>
                    <a:bodyPr/>
                    <a:lstStyle/>
                    <a:p>
                      <a:pPr marL="0" indent="0" algn="l">
                        <a:lnSpc>
                          <a:spcPct val="100000"/>
                        </a:lnSpc>
                        <a:spcBef>
                          <a:spcPts val="0"/>
                        </a:spcBef>
                        <a:spcAft>
                          <a:spcPts val="0"/>
                        </a:spcAft>
                        <a:buNone/>
                      </a:pPr>
                      <a:r>
                        <a:rPr lang="en-US" sz="1200" dirty="0">
                          <a:solidFill>
                            <a:srgbClr val="333333"/>
                          </a:solidFill>
                        </a:rPr>
                        <a:t>Stay bench-only; seek clinical partners and regulatory approval (Phase 3)</a:t>
                      </a:r>
                    </a:p>
                  </a:txBody>
                  <a:tcPr marL="72000" marR="72000" marT="36000" marB="36000" anchor="ctr">
                    <a:lnL w="6350">
                      <a:solidFill>
                        <a:srgbClr val="C9D1E0"/>
                      </a:solidFill>
                    </a:lnL>
                    <a:lnR w="6350">
                      <a:solidFill>
                        <a:srgbClr val="C9D1E0"/>
                      </a:solidFill>
                    </a:lnR>
                    <a:lnT w="6350">
                      <a:solidFill>
                        <a:srgbClr val="C9D1E0"/>
                      </a:solidFill>
                    </a:lnT>
                    <a:lnB w="6350">
                      <a:solidFill>
                        <a:srgbClr val="C9D1E0"/>
                      </a:solidFill>
                    </a:lnB>
                    <a:solidFill>
                      <a:srgbClr val="EEF2F9"/>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92489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446AE-5B58-1B80-0EAF-10AC0031119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95AAEE-0716-FFBD-AA8F-1709F25898BD}"/>
              </a:ext>
            </a:extLst>
          </p:cNvPr>
          <p:cNvSpPr>
            <a:spLocks noGrp="1"/>
          </p:cNvSpPr>
          <p:nvPr>
            <p:ph type="title"/>
          </p:nvPr>
        </p:nvSpPr>
        <p:spPr>
          <a:xfrm>
            <a:off x="371476" y="404813"/>
            <a:ext cx="10474104" cy="574656"/>
          </a:xfrm>
        </p:spPr>
        <p:txBody>
          <a:bodyPr>
            <a:normAutofit/>
          </a:bodyPr>
          <a:lstStyle/>
          <a:p>
            <a:r>
              <a:rPr lang="en-IN" dirty="0"/>
              <a:t>B</a:t>
            </a:r>
            <a:r>
              <a:rPr lang="en-US" dirty="0"/>
              <a:t>USINESS CANVAS</a:t>
            </a:r>
          </a:p>
        </p:txBody>
      </p:sp>
      <p:sp>
        <p:nvSpPr>
          <p:cNvPr id="9" name="Slide Number Placeholder 8">
            <a:extLst>
              <a:ext uri="{FF2B5EF4-FFF2-40B4-BE49-F238E27FC236}">
                <a16:creationId xmlns:a16="http://schemas.microsoft.com/office/drawing/2014/main" id="{E16ED3C0-45B9-4F61-CC2E-E7819EB75D21}"/>
              </a:ext>
            </a:extLst>
          </p:cNvPr>
          <p:cNvSpPr>
            <a:spLocks noGrp="1"/>
          </p:cNvSpPr>
          <p:nvPr>
            <p:ph type="sldNum" sz="quarter" idx="4"/>
          </p:nvPr>
        </p:nvSpPr>
        <p:spPr>
          <a:xfrm>
            <a:off x="8610600" y="6356350"/>
            <a:ext cx="3209924" cy="365125"/>
          </a:xfrm>
        </p:spPr>
        <p:txBody>
          <a:bodyPr/>
          <a:lstStyle/>
          <a:p>
            <a:fld id="{A6FCFE0C-FD5A-4524-A8B1-CEC4446D43C3}" type="slidenum">
              <a:rPr lang="en-US" smtClean="0"/>
              <a:pPr/>
              <a:t>5</a:t>
            </a:fld>
            <a:endParaRPr lang="en-US" dirty="0"/>
          </a:p>
        </p:txBody>
      </p:sp>
      <p:sp>
        <p:nvSpPr>
          <p:cNvPr id="124" name="Mission and vision"/>
          <p:cNvSpPr/>
          <p:nvPr/>
        </p:nvSpPr>
        <p:spPr>
          <a:xfrm>
            <a:off x="371475" y="1300000"/>
            <a:ext cx="5620000" cy="2120000"/>
          </a:xfrm>
          <a:prstGeom prst="roundRect">
            <a:avLst>
              <a:gd name="adj" fmla="val 8000"/>
            </a:avLst>
          </a:prstGeom>
          <a:solidFill>
            <a:srgbClr val="EEF2F9"/>
          </a:solidFill>
          <a:ln>
            <a:noFill/>
          </a:ln>
        </p:spPr>
        <p:txBody>
          <a:bodyPr wrap="square" lIns="137160" tIns="91440" rIns="137160" bIns="45720" anchor="t">
            <a:noAutofit/>
          </a:bodyPr>
          <a:lstStyle/>
          <a:p>
            <a:pPr marL="0" indent="0" algn="l">
              <a:lnSpc>
                <a:spcPct val="100000"/>
              </a:lnSpc>
              <a:spcBef>
                <a:spcPts val="0"/>
              </a:spcBef>
              <a:spcAft>
                <a:spcPts val="0"/>
              </a:spcAft>
              <a:buNone/>
            </a:pPr>
            <a:r>
              <a:rPr lang="en-US" sz="1400" b="1" dirty="0">
                <a:solidFill>
                  <a:srgbClr val="253C6D"/>
                </a:solidFill>
              </a:rPr>
              <a:t>Mission &amp; vision</a:t>
            </a:r>
          </a:p>
          <a:p>
            <a:pPr marL="228600" indent="-228600" algn="l">
              <a:lnSpc>
                <a:spcPct val="100000"/>
              </a:lnSpc>
              <a:spcBef>
                <a:spcPts val="400"/>
              </a:spcBef>
              <a:spcAft>
                <a:spcPts val="0"/>
              </a:spcAft>
              <a:buFont typeface="Arial"/>
              <a:buChar char="•"/>
            </a:pPr>
            <a:r>
              <a:rPr lang="en-US" sz="1300" b="1" dirty="0">
                <a:solidFill>
                  <a:srgbClr val="F2842F"/>
                </a:solidFill>
              </a:rPr>
              <a:t>Mission: </a:t>
            </a:r>
            <a:r>
              <a:rPr lang="en-US" sz="1300" dirty="0">
                <a:solidFill>
                  <a:srgbClr val="333333"/>
                </a:solidFill>
              </a:rPr>
              <a:t>make glucose-control technology understandable, affordable and testable for learners and care teams.</a:t>
            </a:r>
          </a:p>
          <a:p>
            <a:pPr marL="228600" indent="-228600" algn="l">
              <a:lnSpc>
                <a:spcPct val="100000"/>
              </a:lnSpc>
              <a:spcBef>
                <a:spcPts val="400"/>
              </a:spcBef>
              <a:spcAft>
                <a:spcPts val="0"/>
              </a:spcAft>
              <a:buFont typeface="Arial"/>
              <a:buChar char="•"/>
            </a:pPr>
            <a:r>
              <a:rPr lang="en-US" sz="1300" b="1" dirty="0">
                <a:solidFill>
                  <a:srgbClr val="F2842F"/>
                </a:solidFill>
              </a:rPr>
              <a:t>Vision: </a:t>
            </a:r>
            <a:r>
              <a:rPr lang="en-US" sz="1300" dirty="0">
                <a:solidFill>
                  <a:srgbClr val="333333"/>
                </a:solidFill>
              </a:rPr>
              <a:t>a safe, low-cost path from bench model to a certified, wearable artificial pancreas for under-served communities.</a:t>
            </a:r>
          </a:p>
        </p:txBody>
      </p:sp>
      <p:sp>
        <p:nvSpPr>
          <p:cNvPr id="125" name="Market and competitive analysis"/>
          <p:cNvSpPr/>
          <p:nvPr/>
        </p:nvSpPr>
        <p:spPr>
          <a:xfrm>
            <a:off x="6200523" y="1300000"/>
            <a:ext cx="5620000" cy="2120000"/>
          </a:xfrm>
          <a:prstGeom prst="roundRect">
            <a:avLst>
              <a:gd name="adj" fmla="val 8000"/>
            </a:avLst>
          </a:prstGeom>
          <a:solidFill>
            <a:srgbClr val="EEF2F9"/>
          </a:solidFill>
          <a:ln>
            <a:noFill/>
          </a:ln>
        </p:spPr>
        <p:txBody>
          <a:bodyPr wrap="square" lIns="137160" tIns="91440" rIns="137160" bIns="45720" anchor="t">
            <a:noAutofit/>
          </a:bodyPr>
          <a:lstStyle/>
          <a:p>
            <a:pPr marL="0" indent="0" algn="l">
              <a:lnSpc>
                <a:spcPct val="100000"/>
              </a:lnSpc>
              <a:spcBef>
                <a:spcPts val="0"/>
              </a:spcBef>
              <a:spcAft>
                <a:spcPts val="0"/>
              </a:spcAft>
              <a:buNone/>
            </a:pPr>
            <a:r>
              <a:rPr lang="en-US" sz="1400" b="1" dirty="0">
                <a:solidFill>
                  <a:srgbClr val="253C6D"/>
                </a:solidFill>
              </a:rPr>
              <a:t>Market &amp; Competitive analysis</a:t>
            </a:r>
          </a:p>
          <a:p>
            <a:pPr marL="228600" indent="-228600" algn="l">
              <a:lnSpc>
                <a:spcPct val="100000"/>
              </a:lnSpc>
              <a:spcBef>
                <a:spcPts val="400"/>
              </a:spcBef>
              <a:spcAft>
                <a:spcPts val="0"/>
              </a:spcAft>
              <a:buFont typeface="Arial"/>
              <a:buChar char="•"/>
            </a:pPr>
            <a:r>
              <a:rPr lang="en-US" sz="1300" b="1" dirty="0">
                <a:solidFill>
                  <a:srgbClr val="F2842F"/>
                </a:solidFill>
              </a:rPr>
              <a:t>Need: </a:t>
            </a:r>
            <a:r>
              <a:rPr lang="en-US" sz="1300" dirty="0">
                <a:solidFill>
                  <a:srgbClr val="333333"/>
                </a:solidFill>
              </a:rPr>
              <a:t>589 M adults live with diabetes; 3 in 4 are in low- and middle-income countries.</a:t>
            </a:r>
          </a:p>
          <a:p>
            <a:pPr marL="228600" indent="-228600" algn="l">
              <a:lnSpc>
                <a:spcPct val="100000"/>
              </a:lnSpc>
              <a:spcBef>
                <a:spcPts val="400"/>
              </a:spcBef>
              <a:spcAft>
                <a:spcPts val="0"/>
              </a:spcAft>
              <a:buFont typeface="Arial"/>
              <a:buChar char="•"/>
            </a:pPr>
            <a:r>
              <a:rPr lang="en-US" sz="1300" b="1" dirty="0">
                <a:solidFill>
                  <a:srgbClr val="F2842F"/>
                </a:solidFill>
              </a:rPr>
              <a:t>Competitors: </a:t>
            </a:r>
            <a:r>
              <a:rPr lang="en-US" sz="1300" dirty="0">
                <a:solidFill>
                  <a:srgbClr val="333333"/>
                </a:solidFill>
              </a:rPr>
              <a:t>commercial pumps cost thousands of USD and sensors add recurring costs.</a:t>
            </a:r>
          </a:p>
          <a:p>
            <a:pPr marL="228600" indent="-228600" algn="l">
              <a:lnSpc>
                <a:spcPct val="100000"/>
              </a:lnSpc>
              <a:spcBef>
                <a:spcPts val="400"/>
              </a:spcBef>
              <a:spcAft>
                <a:spcPts val="0"/>
              </a:spcAft>
              <a:buFont typeface="Arial"/>
              <a:buChar char="•"/>
            </a:pPr>
            <a:r>
              <a:rPr lang="en-US" sz="1300" b="1" dirty="0">
                <a:solidFill>
                  <a:srgbClr val="F2842F"/>
                </a:solidFill>
              </a:rPr>
              <a:t>Our edge: </a:t>
            </a:r>
            <a:r>
              <a:rPr lang="en-US" sz="1300" dirty="0">
                <a:solidFill>
                  <a:srgbClr val="333333"/>
                </a:solidFill>
              </a:rPr>
              <a:t>about 136 USD, open-source, endocrine + exocrine, patient + doctor portal.</a:t>
            </a:r>
          </a:p>
        </p:txBody>
      </p:sp>
      <p:sp>
        <p:nvSpPr>
          <p:cNvPr id="126" name="Business perspective analysis"/>
          <p:cNvSpPr/>
          <p:nvPr/>
        </p:nvSpPr>
        <p:spPr>
          <a:xfrm>
            <a:off x="371475" y="3550000"/>
            <a:ext cx="5620000" cy="2120000"/>
          </a:xfrm>
          <a:prstGeom prst="roundRect">
            <a:avLst>
              <a:gd name="adj" fmla="val 8000"/>
            </a:avLst>
          </a:prstGeom>
          <a:solidFill>
            <a:srgbClr val="EEF2F9"/>
          </a:solidFill>
          <a:ln>
            <a:noFill/>
          </a:ln>
        </p:spPr>
        <p:txBody>
          <a:bodyPr wrap="square" lIns="137160" tIns="91440" rIns="137160" bIns="45720" anchor="t">
            <a:noAutofit/>
          </a:bodyPr>
          <a:lstStyle/>
          <a:p>
            <a:pPr marL="0" indent="0" algn="l">
              <a:lnSpc>
                <a:spcPct val="100000"/>
              </a:lnSpc>
              <a:spcBef>
                <a:spcPts val="0"/>
              </a:spcBef>
              <a:spcAft>
                <a:spcPts val="0"/>
              </a:spcAft>
              <a:buNone/>
            </a:pPr>
            <a:r>
              <a:rPr lang="en-US" sz="1400" b="1" dirty="0">
                <a:solidFill>
                  <a:srgbClr val="253C6D"/>
                </a:solidFill>
              </a:rPr>
              <a:t>Business perspective analysis</a:t>
            </a:r>
          </a:p>
          <a:p>
            <a:pPr marL="228600" indent="-228600" algn="l">
              <a:lnSpc>
                <a:spcPct val="100000"/>
              </a:lnSpc>
              <a:spcBef>
                <a:spcPts val="400"/>
              </a:spcBef>
              <a:spcAft>
                <a:spcPts val="0"/>
              </a:spcAft>
              <a:buFont typeface="Arial"/>
              <a:buChar char="•"/>
            </a:pPr>
            <a:r>
              <a:rPr lang="en-US" sz="1300" b="1" dirty="0">
                <a:solidFill>
                  <a:srgbClr val="F2842F"/>
                </a:solidFill>
              </a:rPr>
              <a:t>Users (proposed): </a:t>
            </a:r>
            <a:r>
              <a:rPr lang="en-US" sz="1300" dirty="0">
                <a:solidFill>
                  <a:srgbClr val="333333"/>
                </a:solidFill>
              </a:rPr>
              <a:t>engineering and medical colleges, STEM labs, diabetes-education programmes, control-logic R&amp;D.</a:t>
            </a:r>
          </a:p>
          <a:p>
            <a:pPr marL="228600" indent="-228600" algn="l">
              <a:lnSpc>
                <a:spcPct val="100000"/>
              </a:lnSpc>
              <a:spcBef>
                <a:spcPts val="400"/>
              </a:spcBef>
              <a:spcAft>
                <a:spcPts val="0"/>
              </a:spcAft>
              <a:buFont typeface="Arial"/>
              <a:buChar char="•"/>
            </a:pPr>
            <a:r>
              <a:rPr lang="en-US" sz="1300" b="1" dirty="0">
                <a:solidFill>
                  <a:srgbClr val="F2842F"/>
                </a:solidFill>
              </a:rPr>
              <a:t>Model (proposed): </a:t>
            </a:r>
            <a:r>
              <a:rPr lang="en-US" sz="1300" dirty="0">
                <a:solidFill>
                  <a:srgbClr val="333333"/>
                </a:solidFill>
              </a:rPr>
              <a:t>low-cost build kit with open-source software and training workshops.</a:t>
            </a:r>
          </a:p>
          <a:p>
            <a:pPr marL="228600" indent="-228600" algn="l">
              <a:lnSpc>
                <a:spcPct val="100000"/>
              </a:lnSpc>
              <a:spcBef>
                <a:spcPts val="400"/>
              </a:spcBef>
              <a:spcAft>
                <a:spcPts val="0"/>
              </a:spcAft>
              <a:buFont typeface="Arial"/>
              <a:buChar char="•"/>
            </a:pPr>
            <a:r>
              <a:rPr lang="en-US" sz="1300" b="1" dirty="0">
                <a:solidFill>
                  <a:srgbClr val="F2842F"/>
                </a:solidFill>
              </a:rPr>
              <a:t>Long term: </a:t>
            </a:r>
            <a:r>
              <a:rPr lang="en-US" sz="1300" dirty="0">
                <a:solidFill>
                  <a:srgbClr val="333333"/>
                </a:solidFill>
              </a:rPr>
              <a:t>partner with certified device makers and clinicians for regulated products.</a:t>
            </a:r>
          </a:p>
        </p:txBody>
      </p:sp>
      <p:sp>
        <p:nvSpPr>
          <p:cNvPr id="127" name="Financial planning and requirements"/>
          <p:cNvSpPr/>
          <p:nvPr/>
        </p:nvSpPr>
        <p:spPr>
          <a:xfrm>
            <a:off x="6200523" y="3550000"/>
            <a:ext cx="5620000" cy="2120000"/>
          </a:xfrm>
          <a:prstGeom prst="roundRect">
            <a:avLst>
              <a:gd name="adj" fmla="val 8000"/>
            </a:avLst>
          </a:prstGeom>
          <a:solidFill>
            <a:srgbClr val="EEF2F9"/>
          </a:solidFill>
          <a:ln>
            <a:noFill/>
          </a:ln>
        </p:spPr>
        <p:txBody>
          <a:bodyPr wrap="square" lIns="137160" tIns="91440" rIns="137160" bIns="45720" anchor="t">
            <a:noAutofit/>
          </a:bodyPr>
          <a:lstStyle/>
          <a:p>
            <a:pPr marL="0" indent="0" algn="l">
              <a:lnSpc>
                <a:spcPct val="100000"/>
              </a:lnSpc>
              <a:spcBef>
                <a:spcPts val="0"/>
              </a:spcBef>
              <a:spcAft>
                <a:spcPts val="0"/>
              </a:spcAft>
              <a:buNone/>
            </a:pPr>
            <a:r>
              <a:rPr lang="en-US" sz="1400" b="1" dirty="0">
                <a:solidFill>
                  <a:srgbClr val="253C6D"/>
                </a:solidFill>
              </a:rPr>
              <a:t>Financial Planning &amp; requirements</a:t>
            </a:r>
          </a:p>
          <a:p>
            <a:pPr marL="228600" indent="-228600" algn="l">
              <a:lnSpc>
                <a:spcPct val="100000"/>
              </a:lnSpc>
              <a:spcBef>
                <a:spcPts val="400"/>
              </a:spcBef>
              <a:spcAft>
                <a:spcPts val="0"/>
              </a:spcAft>
              <a:buFont typeface="Arial"/>
              <a:buChar char="•"/>
            </a:pPr>
            <a:r>
              <a:rPr lang="en-US" sz="1300" b="1" dirty="0">
                <a:solidFill>
                  <a:srgbClr val="F2842F"/>
                </a:solidFill>
              </a:rPr>
              <a:t>Phase 1 (done): </a:t>
            </a:r>
            <a:r>
              <a:rPr lang="en-US" sz="1300" dirty="0">
                <a:solidFill>
                  <a:srgbClr val="333333"/>
                </a:solidFill>
              </a:rPr>
              <a:t>~136 USD prototype: exocrine module 36%, control electronics 25%, insulin mechanics 22%, frame and liquids 10%, scale 7%.</a:t>
            </a:r>
          </a:p>
          <a:p>
            <a:pPr marL="228600" indent="-228600" algn="l">
              <a:lnSpc>
                <a:spcPct val="100000"/>
              </a:lnSpc>
              <a:spcBef>
                <a:spcPts val="400"/>
              </a:spcBef>
              <a:spcAft>
                <a:spcPts val="0"/>
              </a:spcAft>
              <a:buFont typeface="Arial"/>
              <a:buChar char="•"/>
            </a:pPr>
            <a:r>
              <a:rPr lang="en-US" sz="1300" b="1" dirty="0">
                <a:solidFill>
                  <a:srgbClr val="F2842F"/>
                </a:solidFill>
              </a:rPr>
              <a:t>Phase 2: </a:t>
            </a:r>
            <a:r>
              <a:rPr lang="en-US" sz="1300" dirty="0">
                <a:solidFill>
                  <a:srgbClr val="333333"/>
                </a:solidFill>
              </a:rPr>
              <a:t>glucagon pump, predictive control, secure cloud, mobile app.</a:t>
            </a:r>
          </a:p>
          <a:p>
            <a:pPr marL="228600" indent="-228600" algn="l">
              <a:lnSpc>
                <a:spcPct val="100000"/>
              </a:lnSpc>
              <a:spcBef>
                <a:spcPts val="400"/>
              </a:spcBef>
              <a:spcAft>
                <a:spcPts val="0"/>
              </a:spcAft>
              <a:buFont typeface="Arial"/>
              <a:buChar char="•"/>
            </a:pPr>
            <a:r>
              <a:rPr lang="en-US" sz="1300" b="1" dirty="0">
                <a:solidFill>
                  <a:srgbClr val="F2842F"/>
                </a:solidFill>
              </a:rPr>
              <a:t>Phase 3: </a:t>
            </a:r>
            <a:r>
              <a:rPr lang="en-US" sz="1300" dirty="0">
                <a:solidFill>
                  <a:srgbClr val="333333"/>
                </a:solidFill>
              </a:rPr>
              <a:t>wearable pump, certified sensor, clinical partners, approval; funding to be estimated.</a:t>
            </a:r>
          </a:p>
        </p:txBody>
      </p:sp>
    </p:spTree>
    <p:extLst>
      <p:ext uri="{BB962C8B-B14F-4D97-AF65-F5344CB8AC3E}">
        <p14:creationId xmlns:p14="http://schemas.microsoft.com/office/powerpoint/2010/main" val="2408365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B07B8-F5D6-3D86-94BE-3F5ED1B8D35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F67624-53B3-3D31-2B35-373FAA66EBD9}"/>
              </a:ext>
            </a:extLst>
          </p:cNvPr>
          <p:cNvSpPr>
            <a:spLocks noGrp="1"/>
          </p:cNvSpPr>
          <p:nvPr>
            <p:ph type="title"/>
          </p:nvPr>
        </p:nvSpPr>
        <p:spPr>
          <a:xfrm>
            <a:off x="371476" y="404813"/>
            <a:ext cx="10474104" cy="574656"/>
          </a:xfrm>
        </p:spPr>
        <p:txBody>
          <a:bodyPr>
            <a:normAutofit/>
          </a:bodyPr>
          <a:lstStyle/>
          <a:p>
            <a:r>
              <a:rPr lang="en-US" dirty="0"/>
              <a:t>IMPACT AND BENEFITS</a:t>
            </a:r>
          </a:p>
        </p:txBody>
      </p:sp>
      <p:sp>
        <p:nvSpPr>
          <p:cNvPr id="9" name="Slide Number Placeholder 8">
            <a:extLst>
              <a:ext uri="{FF2B5EF4-FFF2-40B4-BE49-F238E27FC236}">
                <a16:creationId xmlns:a16="http://schemas.microsoft.com/office/drawing/2014/main" id="{1C2F363D-C4B0-D7BE-2CB3-5316C2D4F276}"/>
              </a:ext>
            </a:extLst>
          </p:cNvPr>
          <p:cNvSpPr>
            <a:spLocks noGrp="1"/>
          </p:cNvSpPr>
          <p:nvPr>
            <p:ph type="sldNum" sz="quarter" idx="4"/>
          </p:nvPr>
        </p:nvSpPr>
        <p:spPr>
          <a:xfrm>
            <a:off x="8610600" y="6356350"/>
            <a:ext cx="3209924" cy="365125"/>
          </a:xfrm>
        </p:spPr>
        <p:txBody>
          <a:bodyPr/>
          <a:lstStyle/>
          <a:p>
            <a:fld id="{A6FCFE0C-FD5A-4524-A8B1-CEC4446D43C3}" type="slidenum">
              <a:rPr lang="en-US" smtClean="0"/>
              <a:pPr/>
              <a:t>6</a:t>
            </a:fld>
            <a:endParaRPr lang="en-US" dirty="0"/>
          </a:p>
        </p:txBody>
      </p:sp>
      <p:sp>
        <p:nvSpPr>
          <p:cNvPr id="8" name="Text Placeholder 7">
            <a:extLst>
              <a:ext uri="{FF2B5EF4-FFF2-40B4-BE49-F238E27FC236}">
                <a16:creationId xmlns:a16="http://schemas.microsoft.com/office/drawing/2014/main" id="{7A6C0CC6-69DF-FFA4-21C0-4344321D5AF1}"/>
              </a:ext>
            </a:extLst>
          </p:cNvPr>
          <p:cNvSpPr>
            <a:spLocks noGrp="1"/>
          </p:cNvSpPr>
          <p:nvPr>
            <p:ph type="body" sz="quarter" idx="10"/>
          </p:nvPr>
        </p:nvSpPr>
        <p:spPr>
          <a:xfrm>
            <a:off x="371475" y="1333497"/>
            <a:ext cx="5900000" cy="4500000"/>
          </a:xfrm>
        </p:spPr>
        <p:txBody>
          <a:bodyPr lIns="91440" tIns="45720" rIns="91440" bIns="45720">
            <a:normAutofit/>
          </a:bodyPr>
          <a:lstStyle/>
          <a:p>
            <a:pPr marL="0" indent="0" algn="l">
              <a:lnSpc>
                <a:spcPct val="100000"/>
              </a:lnSpc>
              <a:spcBef>
                <a:spcPts val="0"/>
              </a:spcBef>
              <a:spcAft>
                <a:spcPts val="0"/>
              </a:spcAft>
              <a:buNone/>
            </a:pPr>
            <a:r>
              <a:rPr lang="en-US" sz="1500" b="1" dirty="0">
                <a:solidFill>
                  <a:srgbClr val="253C6D"/>
                </a:solidFill>
              </a:rPr>
              <a:t>Potential impact on the target audience</a:t>
            </a:r>
          </a:p>
          <a:p>
            <a:pPr marL="228600" indent="-228600" algn="l">
              <a:lnSpc>
                <a:spcPct val="100000"/>
              </a:lnSpc>
              <a:spcBef>
                <a:spcPts val="600"/>
              </a:spcBef>
              <a:spcAft>
                <a:spcPts val="0"/>
              </a:spcAft>
              <a:buFont typeface="Arial"/>
              <a:buChar char="•"/>
            </a:pPr>
            <a:r>
              <a:rPr lang="en-US" sz="1400" b="1" dirty="0">
                <a:solidFill>
                  <a:srgbClr val="253C6D"/>
                </a:solidFill>
              </a:rPr>
              <a:t>Students and educators: </a:t>
            </a:r>
            <a:r>
              <a:rPr lang="en-US" sz="1400" dirty="0">
                <a:solidFill>
                  <a:srgbClr val="333333"/>
                </a:solidFill>
              </a:rPr>
              <a:t>hands-on model of how the pancreas controls glucose and digestion.</a:t>
            </a:r>
          </a:p>
          <a:p>
            <a:pPr marL="228600" indent="-228600" algn="l">
              <a:lnSpc>
                <a:spcPct val="100000"/>
              </a:lnSpc>
              <a:spcBef>
                <a:spcPts val="500"/>
              </a:spcBef>
              <a:spcAft>
                <a:spcPts val="0"/>
              </a:spcAft>
              <a:buFont typeface="Arial"/>
              <a:buChar char="•"/>
            </a:pPr>
            <a:r>
              <a:rPr lang="en-US" sz="1300" b="1" dirty="0">
                <a:solidFill>
                  <a:srgbClr val="253C6D"/>
                </a:solidFill>
              </a:rPr>
              <a:t>Clinicians and care teams: </a:t>
            </a:r>
            <a:r>
              <a:rPr lang="en-US" sz="1300" dirty="0">
                <a:solidFill>
                  <a:srgbClr val="333333"/>
                </a:solidFill>
              </a:rPr>
              <a:t>doctor view to tune ratio, correction factor, target and maximum bolus, with event log and CSV export.</a:t>
            </a:r>
          </a:p>
          <a:p>
            <a:pPr marL="228600" indent="-228600" algn="l">
              <a:lnSpc>
                <a:spcPct val="100000"/>
              </a:lnSpc>
              <a:spcBef>
                <a:spcPts val="500"/>
              </a:spcBef>
              <a:spcAft>
                <a:spcPts val="0"/>
              </a:spcAft>
              <a:buFont typeface="Arial"/>
              <a:buChar char="•"/>
            </a:pPr>
            <a:r>
              <a:rPr lang="en-US" sz="1300" b="1" dirty="0">
                <a:solidFill>
                  <a:srgbClr val="253C6D"/>
                </a:solidFill>
              </a:rPr>
              <a:t>Patients and families (future): </a:t>
            </a:r>
            <a:r>
              <a:rPr lang="en-US" sz="1300" dirty="0">
                <a:solidFill>
                  <a:srgbClr val="333333"/>
                </a:solidFill>
              </a:rPr>
              <a:t>a route towards lower-cost automated insulin care.</a:t>
            </a:r>
          </a:p>
          <a:p>
            <a:pPr marL="0" indent="0" algn="l">
              <a:lnSpc>
                <a:spcPct val="100000"/>
              </a:lnSpc>
              <a:spcBef>
                <a:spcPts val="1100"/>
              </a:spcBef>
              <a:spcAft>
                <a:spcPts val="0"/>
              </a:spcAft>
              <a:buNone/>
            </a:pPr>
            <a:r>
              <a:rPr lang="en-US" sz="1500" b="1" dirty="0">
                <a:solidFill>
                  <a:srgbClr val="253C6D"/>
                </a:solidFill>
              </a:rPr>
              <a:t>Benefits of the solution</a:t>
            </a:r>
          </a:p>
          <a:p>
            <a:pPr marL="228600" indent="-228600" algn="l">
              <a:lnSpc>
                <a:spcPct val="100000"/>
              </a:lnSpc>
              <a:spcBef>
                <a:spcPts val="500"/>
              </a:spcBef>
              <a:spcAft>
                <a:spcPts val="0"/>
              </a:spcAft>
              <a:buFont typeface="Arial"/>
              <a:buChar char="•"/>
            </a:pPr>
            <a:r>
              <a:rPr lang="en-US" sz="1300" b="1" dirty="0">
                <a:solidFill>
                  <a:srgbClr val="253C6D"/>
                </a:solidFill>
              </a:rPr>
              <a:t>Social: </a:t>
            </a:r>
            <a:r>
              <a:rPr lang="en-US" sz="1300" dirty="0">
                <a:solidFill>
                  <a:srgbClr val="333333"/>
                </a:solidFill>
              </a:rPr>
              <a:t>better diabetes awareness and training, aimed at regions where 3 in 4 affected adults live.</a:t>
            </a:r>
          </a:p>
          <a:p>
            <a:pPr marL="228600" indent="-228600" algn="l">
              <a:lnSpc>
                <a:spcPct val="100000"/>
              </a:lnSpc>
              <a:spcBef>
                <a:spcPts val="500"/>
              </a:spcBef>
              <a:spcAft>
                <a:spcPts val="0"/>
              </a:spcAft>
              <a:buFont typeface="Arial"/>
              <a:buChar char="•"/>
            </a:pPr>
            <a:r>
              <a:rPr lang="en-US" sz="1300" b="1" dirty="0">
                <a:solidFill>
                  <a:srgbClr val="253C6D"/>
                </a:solidFill>
              </a:rPr>
              <a:t>Economic: </a:t>
            </a:r>
            <a:r>
              <a:rPr lang="en-US" sz="1300" dirty="0">
                <a:solidFill>
                  <a:srgbClr val="333333"/>
                </a:solidFill>
              </a:rPr>
              <a:t>about 136 USD against thousands for commercial pumps; no licence cost; runs in a phone or laptop browser.</a:t>
            </a:r>
          </a:p>
          <a:p>
            <a:pPr marL="228600" indent="-228600" algn="l">
              <a:lnSpc>
                <a:spcPct val="100000"/>
              </a:lnSpc>
              <a:spcBef>
                <a:spcPts val="500"/>
              </a:spcBef>
              <a:spcAft>
                <a:spcPts val="0"/>
              </a:spcAft>
              <a:buFont typeface="Arial"/>
              <a:buChar char="•"/>
            </a:pPr>
            <a:r>
              <a:rPr lang="en-US" sz="1300" b="1" dirty="0">
                <a:solidFill>
                  <a:srgbClr val="253C6D"/>
                </a:solidFill>
              </a:rPr>
              <a:t>Environmental: </a:t>
            </a:r>
            <a:r>
              <a:rPr lang="en-US" sz="1300" dirty="0">
                <a:solidFill>
                  <a:srgbClr val="333333"/>
                </a:solidFill>
              </a:rPr>
              <a:t>water-based testing means no insulin or medical waste; open-source reuse.</a:t>
            </a:r>
          </a:p>
        </p:txBody>
      </p:sp>
      <p:pic>
        <p:nvPicPr>
          <p:cNvPr id="128" name="Simulated glucose chart" descr="Line chart of simulated glucose over time after a 60 g meal for no insulin, meal bolus and closed loop"/>
          <p:cNvPicPr>
            <a:picLocks noChangeAspect="1"/>
          </p:cNvPicPr>
          <p:nvPr/>
        </p:nvPicPr>
        <p:blipFill>
          <a:blip r:embed="rId2"/>
          <a:stretch>
            <a:fillRect/>
          </a:stretch>
        </p:blipFill>
        <p:spPr>
          <a:xfrm>
            <a:off x="6520523" y="1400000"/>
            <a:ext cx="5300000" cy="3225086"/>
          </a:xfrm>
          <a:prstGeom prst="rect">
            <a:avLst/>
          </a:prstGeom>
        </p:spPr>
      </p:pic>
      <p:sp>
        <p:nvSpPr>
          <p:cNvPr id="129" name="Chart caption"/>
          <p:cNvSpPr txBox="1"/>
          <p:nvPr/>
        </p:nvSpPr>
        <p:spPr>
          <a:xfrm>
            <a:off x="6520523" y="4685086"/>
            <a:ext cx="5300000" cy="600000"/>
          </a:xfrm>
          <a:prstGeom prst="rect">
            <a:avLst/>
          </a:prstGeom>
          <a:noFill/>
          <a:ln>
            <a:noFill/>
          </a:ln>
        </p:spPr>
        <p:txBody>
          <a:bodyPr wrap="square" lIns="91440" tIns="45720" rIns="91440" bIns="45720" anchor="t">
            <a:noAutofit/>
          </a:bodyPr>
          <a:lstStyle/>
          <a:p>
            <a:pPr marL="0" indent="0" algn="l">
              <a:lnSpc>
                <a:spcPct val="100000"/>
              </a:lnSpc>
              <a:spcBef>
                <a:spcPts val="0"/>
              </a:spcBef>
              <a:spcAft>
                <a:spcPts val="0"/>
              </a:spcAft>
              <a:buNone/>
            </a:pPr>
            <a:r>
              <a:rPr lang="en-US" sz="1200" b="1" dirty="0">
                <a:solidFill>
                  <a:srgbClr val="253C6D"/>
                </a:solidFill>
              </a:rPr>
              <a:t>Simulated 60 g meal: </a:t>
            </a:r>
            <a:r>
              <a:rPr lang="en-US" sz="1200" dirty="0">
                <a:solidFill>
                  <a:srgbClr val="333333"/>
                </a:solidFill>
              </a:rPr>
              <a:t>bolus calculator 6.0 U, closed loop about 5.2 U. Both keep glucose far closer to range than no insulin.</a:t>
            </a:r>
          </a:p>
        </p:txBody>
      </p:sp>
    </p:spTree>
    <p:extLst>
      <p:ext uri="{BB962C8B-B14F-4D97-AF65-F5344CB8AC3E}">
        <p14:creationId xmlns:p14="http://schemas.microsoft.com/office/powerpoint/2010/main" val="3948578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6DFAE-A482-800C-BDE7-191E7C5EBB5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A2AA865-8A43-4424-BF3F-C2BAD148E013}"/>
              </a:ext>
            </a:extLst>
          </p:cNvPr>
          <p:cNvSpPr>
            <a:spLocks noGrp="1"/>
          </p:cNvSpPr>
          <p:nvPr>
            <p:ph type="title"/>
          </p:nvPr>
        </p:nvSpPr>
        <p:spPr>
          <a:xfrm>
            <a:off x="1351279" y="404813"/>
            <a:ext cx="8627829" cy="574656"/>
          </a:xfrm>
        </p:spPr>
        <p:txBody>
          <a:bodyPr>
            <a:normAutofit/>
          </a:bodyPr>
          <a:lstStyle/>
          <a:p>
            <a:r>
              <a:rPr lang="en-US" dirty="0"/>
              <a:t>RESEARCH  AND REFERENCES</a:t>
            </a:r>
          </a:p>
        </p:txBody>
      </p:sp>
      <p:sp>
        <p:nvSpPr>
          <p:cNvPr id="9" name="Slide Number Placeholder 8">
            <a:extLst>
              <a:ext uri="{FF2B5EF4-FFF2-40B4-BE49-F238E27FC236}">
                <a16:creationId xmlns:a16="http://schemas.microsoft.com/office/drawing/2014/main" id="{3969C97E-BADD-963B-CFF7-507C4D4F7789}"/>
              </a:ext>
            </a:extLst>
          </p:cNvPr>
          <p:cNvSpPr>
            <a:spLocks noGrp="1"/>
          </p:cNvSpPr>
          <p:nvPr>
            <p:ph type="sldNum" sz="quarter" idx="4"/>
          </p:nvPr>
        </p:nvSpPr>
        <p:spPr>
          <a:xfrm>
            <a:off x="8610600" y="6356350"/>
            <a:ext cx="3209924" cy="365125"/>
          </a:xfrm>
        </p:spPr>
        <p:txBody>
          <a:bodyPr/>
          <a:lstStyle/>
          <a:p>
            <a:fld id="{A6FCFE0C-FD5A-4524-A8B1-CEC4446D43C3}" type="slidenum">
              <a:rPr lang="en-US" smtClean="0"/>
              <a:pPr/>
              <a:t>7</a:t>
            </a:fld>
            <a:endParaRPr lang="en-US" dirty="0"/>
          </a:p>
        </p:txBody>
      </p:sp>
      <p:sp>
        <p:nvSpPr>
          <p:cNvPr id="8" name="Text Placeholder 7">
            <a:extLst>
              <a:ext uri="{FF2B5EF4-FFF2-40B4-BE49-F238E27FC236}">
                <a16:creationId xmlns:a16="http://schemas.microsoft.com/office/drawing/2014/main" id="{C7B23928-3D63-423C-F329-D41831692BA4}"/>
              </a:ext>
            </a:extLst>
          </p:cNvPr>
          <p:cNvSpPr>
            <a:spLocks noGrp="1"/>
          </p:cNvSpPr>
          <p:nvPr>
            <p:ph type="body" sz="quarter" idx="10"/>
          </p:nvPr>
        </p:nvSpPr>
        <p:spPr>
          <a:xfrm>
            <a:off x="371475" y="1333497"/>
            <a:ext cx="6100000" cy="3400000"/>
          </a:xfrm>
        </p:spPr>
        <p:txBody>
          <a:bodyPr lIns="91440" tIns="45720" rIns="91440" bIns="45720">
            <a:normAutofit/>
          </a:bodyPr>
          <a:lstStyle/>
          <a:p>
            <a:pPr marL="0" indent="0" algn="l">
              <a:lnSpc>
                <a:spcPct val="100000"/>
              </a:lnSpc>
              <a:spcBef>
                <a:spcPts val="0"/>
              </a:spcBef>
              <a:spcAft>
                <a:spcPts val="0"/>
              </a:spcAft>
              <a:buNone/>
            </a:pPr>
            <a:r>
              <a:rPr lang="en-US" sz="1500" b="1" dirty="0">
                <a:solidFill>
                  <a:srgbClr val="253C6D"/>
                </a:solidFill>
              </a:rPr>
              <a:t>Details / Links of the reference and research work</a:t>
            </a:r>
          </a:p>
          <a:p>
            <a:pPr marL="228600" indent="-228600" algn="l">
              <a:lnSpc>
                <a:spcPct val="100000"/>
              </a:lnSpc>
              <a:spcBef>
                <a:spcPts val="500"/>
              </a:spcBef>
              <a:spcAft>
                <a:spcPts val="0"/>
              </a:spcAft>
              <a:buFont typeface="Arial"/>
              <a:buChar char="•"/>
            </a:pPr>
            <a:r>
              <a:rPr lang="en-US" sz="1300" b="1" dirty="0">
                <a:solidFill>
                  <a:srgbClr val="253C6D"/>
                </a:solidFill>
              </a:rPr>
              <a:t>IDF Diabetes Atlas, 11th edition (2025): </a:t>
            </a:r>
            <a:r>
              <a:rPr lang="en-US" sz="1300" dirty="0">
                <a:solidFill>
                  <a:srgbClr val="333333"/>
                </a:solidFill>
              </a:rPr>
              <a:t>prevalence, undiagnosed share, regional burden and 2050 projection (diabetesatlas.org).</a:t>
            </a:r>
          </a:p>
          <a:p>
            <a:pPr marL="228600" indent="-228600" algn="l">
              <a:lnSpc>
                <a:spcPct val="100000"/>
              </a:lnSpc>
              <a:spcBef>
                <a:spcPts val="500"/>
              </a:spcBef>
              <a:spcAft>
                <a:spcPts val="0"/>
              </a:spcAft>
              <a:buFont typeface="Arial"/>
              <a:buChar char="•"/>
            </a:pPr>
            <a:r>
              <a:rPr lang="en-US" sz="1300" b="1" dirty="0">
                <a:solidFill>
                  <a:srgbClr val="253C6D"/>
                </a:solidFill>
              </a:rPr>
              <a:t>Type split: </a:t>
            </a:r>
            <a:r>
              <a:rPr lang="en-US" sz="1300" dirty="0">
                <a:solidFill>
                  <a:srgbClr val="333333"/>
                </a:solidFill>
              </a:rPr>
              <a:t>published ranges, type 2 about 90-95% and type 1 about 5-10%; shares shown are approximate.</a:t>
            </a:r>
          </a:p>
          <a:p>
            <a:pPr marL="228600" indent="-228600" algn="l">
              <a:lnSpc>
                <a:spcPct val="100000"/>
              </a:lnSpc>
              <a:spcBef>
                <a:spcPts val="500"/>
              </a:spcBef>
              <a:spcAft>
                <a:spcPts val="0"/>
              </a:spcAft>
              <a:buFont typeface="Arial"/>
              <a:buChar char="•"/>
            </a:pPr>
            <a:r>
              <a:rPr lang="en-US" sz="1300" b="1" dirty="0">
                <a:solidFill>
                  <a:srgbClr val="253C6D"/>
                </a:solidFill>
              </a:rPr>
              <a:t>Physiology basis: </a:t>
            </a:r>
            <a:r>
              <a:rPr lang="en-US" sz="1300" dirty="0">
                <a:solidFill>
                  <a:srgbClr val="333333"/>
                </a:solidFill>
              </a:rPr>
              <a:t>endocrine (beta and alpha cells) and exocrine (acinar and duct cells) functions mapped to prototype modules.</a:t>
            </a:r>
          </a:p>
          <a:p>
            <a:pPr marL="228600" indent="-228600" algn="l">
              <a:lnSpc>
                <a:spcPct val="100000"/>
              </a:lnSpc>
              <a:spcBef>
                <a:spcPts val="500"/>
              </a:spcBef>
              <a:spcAft>
                <a:spcPts val="0"/>
              </a:spcAft>
              <a:buFont typeface="Arial"/>
              <a:buChar char="•"/>
            </a:pPr>
            <a:r>
              <a:rPr lang="en-US" sz="1300" b="1" dirty="0">
                <a:solidFill>
                  <a:srgbClr val="253C6D"/>
                </a:solidFill>
              </a:rPr>
              <a:t>Simulated validation: </a:t>
            </a:r>
            <a:r>
              <a:rPr lang="en-US" sz="1300" dirty="0">
                <a:solidFill>
                  <a:srgbClr val="333333"/>
                </a:solidFill>
              </a:rPr>
              <a:t>60 g meal, start 110 mg/dL, ratio 10 g/U, correction 50 mg/dL/U, target 110.</a:t>
            </a:r>
          </a:p>
        </p:txBody>
      </p:sp>
      <p:sp>
        <p:nvSpPr>
          <p:cNvPr id="130" name="IDF stat 1"/>
          <p:cNvSpPr/>
          <p:nvPr/>
        </p:nvSpPr>
        <p:spPr>
          <a:xfrm>
            <a:off x="6600000" y="1400000"/>
            <a:ext cx="2500000" cy="950000"/>
          </a:xfrm>
          <a:prstGeom prst="roundRect">
            <a:avLst>
              <a:gd name="adj" fmla="val 8000"/>
            </a:avLst>
          </a:prstGeom>
          <a:solidFill>
            <a:srgbClr val="253C6D"/>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2400" b="1" dirty="0">
                <a:solidFill>
                  <a:srgbClr val="FFFFFF"/>
                </a:solidFill>
              </a:rPr>
              <a:t>589 M</a:t>
            </a:r>
          </a:p>
          <a:p>
            <a:pPr marL="0" indent="0" algn="l">
              <a:lnSpc>
                <a:spcPct val="100000"/>
              </a:lnSpc>
              <a:spcBef>
                <a:spcPts val="0"/>
              </a:spcBef>
              <a:spcAft>
                <a:spcPts val="0"/>
              </a:spcAft>
              <a:buNone/>
            </a:pPr>
            <a:r>
              <a:rPr lang="en-US" sz="1200" dirty="0">
                <a:solidFill>
                  <a:srgbClr val="FFFFFF"/>
                </a:solidFill>
              </a:rPr>
              <a:t>adults living with diabetes, 2024</a:t>
            </a:r>
          </a:p>
        </p:txBody>
      </p:sp>
      <p:sp>
        <p:nvSpPr>
          <p:cNvPr id="131" name="IDF stat 2"/>
          <p:cNvSpPr/>
          <p:nvPr/>
        </p:nvSpPr>
        <p:spPr>
          <a:xfrm>
            <a:off x="9320000" y="1400000"/>
            <a:ext cx="2500000" cy="950000"/>
          </a:xfrm>
          <a:prstGeom prst="roundRect">
            <a:avLst>
              <a:gd name="adj" fmla="val 8000"/>
            </a:avLst>
          </a:prstGeom>
          <a:solidFill>
            <a:srgbClr val="F2842F"/>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2400" b="1" dirty="0">
                <a:solidFill>
                  <a:srgbClr val="FFFFFF"/>
                </a:solidFill>
              </a:rPr>
              <a:t>1 in 9</a:t>
            </a:r>
          </a:p>
          <a:p>
            <a:pPr marL="0" indent="0" algn="l">
              <a:lnSpc>
                <a:spcPct val="100000"/>
              </a:lnSpc>
              <a:spcBef>
                <a:spcPts val="0"/>
              </a:spcBef>
              <a:spcAft>
                <a:spcPts val="0"/>
              </a:spcAft>
              <a:buNone/>
            </a:pPr>
            <a:r>
              <a:rPr lang="en-US" sz="1200" dirty="0">
                <a:solidFill>
                  <a:srgbClr val="FFFFFF"/>
                </a:solidFill>
              </a:rPr>
              <a:t>adults worldwide</a:t>
            </a:r>
          </a:p>
        </p:txBody>
      </p:sp>
      <p:sp>
        <p:nvSpPr>
          <p:cNvPr id="132" name="IDF stat 3"/>
          <p:cNvSpPr/>
          <p:nvPr/>
        </p:nvSpPr>
        <p:spPr>
          <a:xfrm>
            <a:off x="6600000" y="2500000"/>
            <a:ext cx="2500000" cy="950000"/>
          </a:xfrm>
          <a:prstGeom prst="roundRect">
            <a:avLst>
              <a:gd name="adj" fmla="val 8000"/>
            </a:avLst>
          </a:prstGeom>
          <a:solidFill>
            <a:srgbClr val="F2842F"/>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2400" b="1" dirty="0">
                <a:solidFill>
                  <a:srgbClr val="FFFFFF"/>
                </a:solidFill>
              </a:rPr>
              <a:t>252 M</a:t>
            </a:r>
          </a:p>
          <a:p>
            <a:pPr marL="0" indent="0" algn="l">
              <a:lnSpc>
                <a:spcPct val="100000"/>
              </a:lnSpc>
              <a:spcBef>
                <a:spcPts val="0"/>
              </a:spcBef>
              <a:spcAft>
                <a:spcPts val="0"/>
              </a:spcAft>
              <a:buNone/>
            </a:pPr>
            <a:r>
              <a:rPr lang="en-US" sz="1200" dirty="0">
                <a:solidFill>
                  <a:srgbClr val="FFFFFF"/>
                </a:solidFill>
              </a:rPr>
              <a:t>do not know they have it</a:t>
            </a:r>
          </a:p>
        </p:txBody>
      </p:sp>
      <p:sp>
        <p:nvSpPr>
          <p:cNvPr id="133" name="IDF stat 4"/>
          <p:cNvSpPr/>
          <p:nvPr/>
        </p:nvSpPr>
        <p:spPr>
          <a:xfrm>
            <a:off x="9320000" y="2500000"/>
            <a:ext cx="2500000" cy="950000"/>
          </a:xfrm>
          <a:prstGeom prst="roundRect">
            <a:avLst>
              <a:gd name="adj" fmla="val 8000"/>
            </a:avLst>
          </a:prstGeom>
          <a:solidFill>
            <a:srgbClr val="253C6D"/>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2400" b="1" dirty="0">
                <a:solidFill>
                  <a:srgbClr val="FFFFFF"/>
                </a:solidFill>
              </a:rPr>
              <a:t>853 M</a:t>
            </a:r>
          </a:p>
          <a:p>
            <a:pPr marL="0" indent="0" algn="l">
              <a:lnSpc>
                <a:spcPct val="100000"/>
              </a:lnSpc>
              <a:spcBef>
                <a:spcPts val="0"/>
              </a:spcBef>
              <a:spcAft>
                <a:spcPts val="0"/>
              </a:spcAft>
              <a:buNone/>
            </a:pPr>
            <a:r>
              <a:rPr lang="en-US" sz="1200" dirty="0">
                <a:solidFill>
                  <a:srgbClr val="FFFFFF"/>
                </a:solidFill>
              </a:rPr>
              <a:t>projected by 2050</a:t>
            </a:r>
          </a:p>
        </p:txBody>
      </p:sp>
      <p:sp>
        <p:nvSpPr>
          <p:cNvPr id="134" name="IDF stat 5"/>
          <p:cNvSpPr/>
          <p:nvPr/>
        </p:nvSpPr>
        <p:spPr>
          <a:xfrm>
            <a:off x="6600000" y="3600000"/>
            <a:ext cx="2500000" cy="950000"/>
          </a:xfrm>
          <a:prstGeom prst="roundRect">
            <a:avLst>
              <a:gd name="adj" fmla="val 8000"/>
            </a:avLst>
          </a:prstGeom>
          <a:solidFill>
            <a:srgbClr val="253C6D"/>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2400" b="1" dirty="0">
                <a:solidFill>
                  <a:srgbClr val="FFFFFF"/>
                </a:solidFill>
              </a:rPr>
              <a:t>1.8 M</a:t>
            </a:r>
          </a:p>
          <a:p>
            <a:pPr marL="0" indent="0" algn="l">
              <a:lnSpc>
                <a:spcPct val="100000"/>
              </a:lnSpc>
              <a:spcBef>
                <a:spcPts val="0"/>
              </a:spcBef>
              <a:spcAft>
                <a:spcPts val="0"/>
              </a:spcAft>
              <a:buNone/>
            </a:pPr>
            <a:r>
              <a:rPr lang="en-US" sz="1200" dirty="0">
                <a:solidFill>
                  <a:srgbClr val="FFFFFF"/>
                </a:solidFill>
              </a:rPr>
              <a:t>children and young adults with type 1</a:t>
            </a:r>
          </a:p>
        </p:txBody>
      </p:sp>
      <p:sp>
        <p:nvSpPr>
          <p:cNvPr id="135" name="IDF stat 6"/>
          <p:cNvSpPr/>
          <p:nvPr/>
        </p:nvSpPr>
        <p:spPr>
          <a:xfrm>
            <a:off x="9320000" y="3600000"/>
            <a:ext cx="2500000" cy="950000"/>
          </a:xfrm>
          <a:prstGeom prst="roundRect">
            <a:avLst>
              <a:gd name="adj" fmla="val 8000"/>
            </a:avLst>
          </a:prstGeom>
          <a:solidFill>
            <a:srgbClr val="F2842F"/>
          </a:solidFill>
          <a:ln>
            <a:noFill/>
          </a:ln>
        </p:spPr>
        <p:txBody>
          <a:bodyPr wrap="square" lIns="137160" tIns="45720" rIns="137160" bIns="45720" anchor="ctr">
            <a:noAutofit/>
          </a:bodyPr>
          <a:lstStyle/>
          <a:p>
            <a:pPr marL="0" indent="0" algn="l">
              <a:lnSpc>
                <a:spcPct val="100000"/>
              </a:lnSpc>
              <a:spcBef>
                <a:spcPts val="0"/>
              </a:spcBef>
              <a:spcAft>
                <a:spcPts val="0"/>
              </a:spcAft>
              <a:buNone/>
            </a:pPr>
            <a:r>
              <a:rPr lang="en-US" sz="2400" b="1" dirty="0">
                <a:solidFill>
                  <a:srgbClr val="FFFFFF"/>
                </a:solidFill>
              </a:rPr>
              <a:t>3.4 M+</a:t>
            </a:r>
          </a:p>
          <a:p>
            <a:pPr marL="0" indent="0" algn="l">
              <a:lnSpc>
                <a:spcPct val="100000"/>
              </a:lnSpc>
              <a:spcBef>
                <a:spcPts val="0"/>
              </a:spcBef>
              <a:spcAft>
                <a:spcPts val="0"/>
              </a:spcAft>
              <a:buNone/>
            </a:pPr>
            <a:r>
              <a:rPr lang="en-US" sz="1200" dirty="0">
                <a:solidFill>
                  <a:srgbClr val="FFFFFF"/>
                </a:solidFill>
              </a:rPr>
              <a:t>deaths linked to diabetes each year</a:t>
            </a:r>
          </a:p>
        </p:txBody>
      </p:sp>
      <p:sp>
        <p:nvSpPr>
          <p:cNvPr id="136" name="GitHub link"/>
          <p:cNvSpPr/>
          <p:nvPr/>
        </p:nvSpPr>
        <p:spPr>
          <a:xfrm>
            <a:off x="371475" y="4850000"/>
            <a:ext cx="11449048" cy="800000"/>
          </a:xfrm>
          <a:prstGeom prst="roundRect">
            <a:avLst>
              <a:gd name="adj" fmla="val 8000"/>
            </a:avLst>
          </a:prstGeom>
          <a:solidFill>
            <a:srgbClr val="FEF1E6"/>
          </a:solidFill>
          <a:ln>
            <a:noFill/>
          </a:ln>
        </p:spPr>
        <p:txBody>
          <a:bodyPr wrap="square" lIns="182880" tIns="45720" rIns="182880" bIns="45720" anchor="ctr">
            <a:noAutofit/>
          </a:bodyPr>
          <a:lstStyle/>
          <a:p>
            <a:r>
              <a:rPr lang="en-US" sz="1600" b="1" dirty="0">
                <a:solidFill>
                  <a:srgbClr val="253C6D"/>
                </a:solidFill>
              </a:rPr>
              <a:t>GitHub Repository Link: https://github.com/Sanjay-Codes7/Artificial_Pancreas</a:t>
            </a:r>
            <a:endParaRPr lang="en-US" sz="1600" dirty="0">
              <a:solidFill>
                <a:srgbClr val="333333"/>
              </a:solidFill>
            </a:endParaRPr>
          </a:p>
        </p:txBody>
      </p:sp>
    </p:spTree>
    <p:extLst>
      <p:ext uri="{BB962C8B-B14F-4D97-AF65-F5344CB8AC3E}">
        <p14:creationId xmlns:p14="http://schemas.microsoft.com/office/powerpoint/2010/main" val="3460014427"/>
      </p:ext>
    </p:extLst>
  </p:cSld>
  <p:clrMapOvr>
    <a:masterClrMapping/>
  </p:clrMapOvr>
</p:sld>
</file>

<file path=ppt/theme/theme1.xml><?xml version="1.0" encoding="utf-8"?>
<a:theme xmlns:a="http://schemas.openxmlformats.org/drawingml/2006/main" name="Office Theme">
  <a:themeElements>
    <a:clrScheme name="Dexathon">
      <a:dk1>
        <a:sysClr val="windowText" lastClr="000000"/>
      </a:dk1>
      <a:lt1>
        <a:sysClr val="window" lastClr="FFFFFF"/>
      </a:lt1>
      <a:dk2>
        <a:srgbClr val="44546A"/>
      </a:dk2>
      <a:lt2>
        <a:srgbClr val="E7E6E6"/>
      </a:lt2>
      <a:accent1>
        <a:srgbClr val="F2842F"/>
      </a:accent1>
      <a:accent2>
        <a:srgbClr val="253C6D"/>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1168</Words>
  <Application>Microsoft Office PowerPoint</Application>
  <PresentationFormat>Widescreen</PresentationFormat>
  <Paragraphs>120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Arial Black</vt:lpstr>
      <vt:lpstr>Calibri</vt:lpstr>
      <vt:lpstr>Office Theme</vt:lpstr>
      <vt:lpstr>ARTIFICIAL PANCREAS</vt:lpstr>
      <vt:lpstr>ARTIFICIAL PANCREAS BENCH MODEL</vt:lpstr>
      <vt:lpstr>TECHNICAL APPROACH</vt:lpstr>
      <vt:lpstr>FEASIBILITY AND VIABILITY</vt:lpstr>
      <vt:lpstr>BUSINESS CANVAS</vt:lpstr>
      <vt:lpstr>IMPACT AND BENEFITS</vt:lpstr>
      <vt:lpstr>RESEARCH  AND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Cyril Jones</dc:creator>
  <cp:lastModifiedBy>Home</cp:lastModifiedBy>
  <cp:revision>8</cp:revision>
  <dcterms:created xsi:type="dcterms:W3CDTF">2026-10-05T08:02:12Z</dcterms:created>
  <dcterms:modified xsi:type="dcterms:W3CDTF">2026-10-23T12:05:46Z</dcterms:modified>
</cp:coreProperties>
</file>